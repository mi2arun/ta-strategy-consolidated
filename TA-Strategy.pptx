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02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Consolidated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65836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C7686"/>
                </a:solidFill>
                <a:latin typeface="Calibri"/>
              </a:rPr>
              <a:t>APPLE PARTNER RETAIL · OMNICHANNEL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783080"/>
            <a:ext cx="6675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F1722"/>
                </a:solidFill>
                <a:latin typeface="Calibri"/>
              </a:rPr>
              <a:t>Building a strong </a:t>
            </a:r>
            <a:r>
              <a:rPr sz="3800" b="1" i="0">
                <a:solidFill>
                  <a:srgbClr val="0B7D72"/>
                </a:solidFill>
                <a:latin typeface="Calibri"/>
              </a:rPr>
              <a:t>hiring system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F1722"/>
                </a:solidFill>
                <a:latin typeface="Calibri"/>
              </a:rPr>
              <a:t>for the ₹5,000 Cr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6126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A4452"/>
                </a:solidFill>
                <a:latin typeface="Calibri"/>
              </a:rPr>
              <a:t>A simple, practical plan to hire faster, stop people from leaving, and make hiring a key driver of business growth.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630936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4982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C7686"/>
                </a:solidFill>
                <a:latin typeface="Calibri"/>
              </a:rPr>
              <a:t>Prepared for CEO · CHRO · Business Heads   ·   Head – Talent Acquisition   ·   12–24 month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85800"/>
            <a:ext cx="3687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7C8B8"/>
                </a:solidFill>
                <a:latin typeface="Calibri"/>
              </a:rPr>
              <a:t>OUR GOALS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71600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36192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₹3,000 → ₹5,000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084832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REVENUE, NEXT 12–24 MONTHS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578608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743200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~1,000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91840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PEOPLE TO HIRE EVERY YEAR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85616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3950208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45% → below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498848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REDUCE PEOPLE LEAVING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4992624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5157216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50+ → 30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705856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REDUCE HIRING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OUR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01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From a slow hiring desk to a smart hiring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Today we hire only after a job opens. We will change this — plan hiring early from new-store plans and keep candidates ready in advance. We will hire good people who stay longer, not just fill seats fast.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⚡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Ready candidate lists + AI + clear timelines, run by TA Ops.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hire in 30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710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710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27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🎯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827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Proper interview scorecards + an honest job preview.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827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joinees stay past 90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45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⚙️ Low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45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More referrals, fewer agencies, AI support.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cost per hire ₹4,500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46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46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63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✨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63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Regular social posts + the Apple brand value.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63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more offers accepted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66344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6344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718303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3A4452"/>
                </a:solidFill>
                <a:latin typeface="Calibri"/>
              </a:rPr>
              <a:t>Four focus areas, each with one owner and one clear number to track — so the plan stays simple and accountable.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01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FIRST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02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First 90 days — a step-by-step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Done in order — we cannot speed up a broken process. First fix the basics, then build the system, then show results. Quick early wins build trust for the bigger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0–30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Understand &amp; Fix Basics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Check open jobs, time at each step, source of hires &amp; who is leaving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Make everyone use one hiring software (ATS)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Daily focus team for the 100 new-store jobs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Restart referral scheme with instant reward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074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30242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0242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31–60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242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Build the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0242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Standard interview questions + culture-fit scorecards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Keep ready, pre-checked candidate lists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New-joinee plan: ready Day 1 + 30/60/90 check-ins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Start AI screening + chatbot; cut agency contracts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92388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2388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61–90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Show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2388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Early wins: hiring time ~40 days; fewer drop-outs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Start employer-branding posts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Launch a live hiring dashboard for leadership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Present the full 12-month plan to leadership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12-MONTH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03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The 12-month plan in four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Each quarter builds on the last. We finish one quarter's base work (the gate) before starting the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Hiring software fully used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Standard interviews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Referral scheme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New-joinee plan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ATS used by &gt;90%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7710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5998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998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AI screening at scale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Ready lists, top 5 jobs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Time limits per step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998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313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hiring time ≤35 days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16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Quality &amp;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Employer-branding push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Leadership hiring guide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Career paths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016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331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people leaving &lt;35%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46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8034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34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34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Optimise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34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Reduce cost &amp; agencies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Plan hiring in advance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034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5349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30 days · ₹4,500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TEAM &amp;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04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A team that can hire 1,000+ people a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A central expert team for tools, data &amp; standards, plus recruiters placed inside each business so they work closely and move fast. ~13–15 people in total.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15687" y="228600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5687" y="22860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Head – Talent Acquisition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6703" y="2788920"/>
            <a:ext cx="18288" cy="27432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Volume / Retail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Store &amp; service staff hiring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639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639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~820 / yr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5071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5071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4799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Corporate &amp;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4799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B2B · Education · Corporate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44783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4783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~160 / yr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3215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63215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72943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Leadership &amp; Niche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2943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Senior hiring, in-house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92927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2927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steady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1359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1359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1087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TA Ops &amp;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1087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Software · AI · dashboards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1071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1071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support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59503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9503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69231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Employer Brand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9231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Always-ready sourcing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89215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89215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02920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" y="5084064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Team size: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one volume recruiter handles ~120–150 hires/year, a corporate recruiter ~40–60 → ~6–7 recruiters, 3–4 sourcers, 1 data person, 1 branding person + 4 leads. Recruiters move from filling forms to sourcing, using data &amp; working with managers.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FASTER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05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Reduce hiring time from 50+ to 30 days or 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Hiring is slow because we start from zero for every job and wait too long for manager feedback. The fix: keep candidates ready and run the steps together with clear time limits.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62432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262432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2624328"/>
            <a:ext cx="35935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50+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With ready lists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12724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58568" y="3127248"/>
            <a:ext cx="2666390" cy="274320"/>
          </a:xfrm>
          <a:prstGeom prst="roundRect">
            <a:avLst>
              <a:gd name="adj" fmla="val 6000"/>
            </a:avLst>
          </a:prstGeom>
          <a:solidFill>
            <a:srgbClr val="C27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3127248"/>
            <a:ext cx="255666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~36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61188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Goal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363016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8568" y="3630168"/>
            <a:ext cx="2147925" cy="2743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3630168"/>
            <a:ext cx="203819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1480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Store jobs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4133087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58568" y="4133087"/>
            <a:ext cx="1407261" cy="274320"/>
          </a:xfrm>
          <a:prstGeom prst="roundRect">
            <a:avLst>
              <a:gd name="adj" fmla="val 6000"/>
            </a:avLst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58568" y="4133087"/>
            <a:ext cx="129753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20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663440"/>
            <a:ext cx="5394960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66344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718303"/>
            <a:ext cx="4974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Example: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Chipotle hires in 4 days while hiring 10,000/year — so our 30-day goal is easy.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468880"/>
            <a:ext cx="5315407" cy="31089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2651760"/>
            <a:ext cx="4876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🎯  HOW WE MAKE HIRING FASTER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3035808"/>
            <a:ext cx="4876495" cy="2432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Keep ready candidate lists — </a:t>
            </a:r>
            <a:r>
              <a:rPr sz="1200">
                <a:solidFill>
                  <a:srgbClr val="3A4452"/>
                </a:solidFill>
                <a:latin typeface="Calibri"/>
              </a:rPr>
              <a:t>fill high-volume jobs in days, not weeks.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Run steps together — </a:t>
            </a:r>
            <a:r>
              <a:rPr sz="1200">
                <a:solidFill>
                  <a:srgbClr val="3A4452"/>
                </a:solidFill>
                <a:latin typeface="Calibri"/>
              </a:rPr>
              <a:t>screening, interview &amp; booking at once; AI screens 24×7.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Fixed time limits — </a:t>
            </a:r>
            <a:r>
              <a:rPr sz="1200">
                <a:solidFill>
                  <a:srgbClr val="3A4452"/>
                </a:solidFill>
                <a:latin typeface="Calibri"/>
              </a:rPr>
              <a:t>manager feedback in 2 days, offer within 5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Instant booking </a:t>
            </a:r>
            <a:r>
              <a:rPr sz="1200">
                <a:solidFill>
                  <a:srgbClr val="3A4452"/>
                </a:solidFill>
                <a:latin typeface="Calibri"/>
              </a:rPr>
              <a:t>by chatbot for store jobs; ready panel for leadership.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Cut offer drop-outs 28% → under 12% </a:t>
            </a:r>
            <a:r>
              <a:rPr sz="1200">
                <a:solidFill>
                  <a:srgbClr val="3A4452"/>
                </a:solidFill>
                <a:latin typeface="Calibri"/>
              </a:rPr>
              <a:t>with a faster process &amp; clear salary.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STOP PEOPLE LEAVING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06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Reduce people leaving: 45% to below 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Most people leave in the first 3 months — about 20% within 45 days, and ~70% of all leavers within 90 days. So we must fix hiring, joining and early support. Keeping people starts from the day we hire.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7860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257860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2578608"/>
            <a:ext cx="35935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6323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In 12 months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081527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58568" y="3081527"/>
            <a:ext cx="2888589" cy="274320"/>
          </a:xfrm>
          <a:prstGeom prst="roundRect">
            <a:avLst>
              <a:gd name="adj" fmla="val 6000"/>
            </a:avLst>
          </a:prstGeom>
          <a:solidFill>
            <a:srgbClr val="C27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3081527"/>
            <a:ext cx="277886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~35%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In 24 months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358444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8568" y="3584448"/>
            <a:ext cx="2036826" cy="274320"/>
          </a:xfrm>
          <a:prstGeom prst="roundRect">
            <a:avLst>
              <a:gd name="adj" fmla="val 6000"/>
            </a:avLst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3584448"/>
            <a:ext cx="192709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below 25%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60520"/>
            <a:ext cx="41148" cy="914400"/>
          </a:xfrm>
          <a:prstGeom prst="rect">
            <a:avLst/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6453A"/>
                </a:solidFill>
                <a:latin typeface="Calibri"/>
              </a:rPr>
              <a:t>20%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leave within 45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20112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0112" y="4160520"/>
            <a:ext cx="41148" cy="914400"/>
          </a:xfrm>
          <a:prstGeom prst="rect">
            <a:avLst/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1280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6453A"/>
                </a:solidFill>
                <a:latin typeface="Calibri"/>
              </a:rPr>
              <a:t>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of leavers go by 90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3296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3296" y="4160520"/>
            <a:ext cx="41148" cy="914400"/>
          </a:xfrm>
          <a:prstGeom prst="rect">
            <a:avLst/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4464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A8F5F"/>
                </a:solidFill>
                <a:latin typeface="Calibri"/>
              </a:rPr>
              <a:t>69%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stay 3+ yrs if joined well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468880"/>
            <a:ext cx="5315407" cy="315468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28816" y="2651760"/>
            <a:ext cx="4876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🎯  OUR THREE-STEP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8816" y="3035808"/>
            <a:ext cx="4876495" cy="2478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 · Hire right — </a:t>
            </a:r>
            <a:r>
              <a:rPr sz="1200">
                <a:solidFill>
                  <a:srgbClr val="3A4452"/>
                </a:solidFill>
                <a:latin typeface="Calibri"/>
              </a:rPr>
              <a:t>check culture fit, show honest job preview, 40%+ referrals.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B · Settle them well — </a:t>
            </a:r>
            <a:r>
              <a:rPr sz="1200">
                <a:solidFill>
                  <a:srgbClr val="3A4452"/>
                </a:solidFill>
                <a:latin typeface="Calibri"/>
              </a:rPr>
              <a:t>ready Day 1, give a buddy, check in at 30/60/90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C · Keep them — </a:t>
            </a:r>
            <a:r>
              <a:rPr sz="1200">
                <a:solidFill>
                  <a:srgbClr val="3A4452"/>
                </a:solidFill>
                <a:latin typeface="Calibri"/>
              </a:rPr>
              <a:t>clear growth path + early alerts when someone may leave.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Start with </a:t>
            </a:r>
            <a:r>
              <a:rPr sz="1200">
                <a:solidFill>
                  <a:srgbClr val="3A4452"/>
                </a:solidFill>
                <a:latin typeface="Calibri"/>
              </a:rPr>
              <a:t>store staff (55%+) and the 11-month problem first.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TECHNOLOGY &amp;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07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AI gives speed — and cuts the cost in 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AI handles the repeated work — searching, screening, scheduling and answering candidate questions. Cost mainly drops from more referrals, fewer agencies, and fewer re-hires.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23160"/>
            <a:ext cx="541461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606040"/>
            <a:ext cx="49757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2"/>
                </a:solidFill>
                <a:latin typeface="Calibri"/>
              </a:rPr>
              <a:t>🤖  HIRING TOOLS — STEP BY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90088"/>
            <a:ext cx="4975707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Step 1 — </a:t>
            </a:r>
            <a:r>
              <a:rPr sz="1200">
                <a:solidFill>
                  <a:srgbClr val="3A4452"/>
                </a:solidFill>
                <a:latin typeface="Calibri"/>
              </a:rPr>
              <a:t>full hiring software (ATS) + live dashboards.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Step 2 — </a:t>
            </a:r>
            <a:r>
              <a:rPr sz="1200">
                <a:solidFill>
                  <a:srgbClr val="3A4452"/>
                </a:solidFill>
                <a:latin typeface="Calibri"/>
              </a:rPr>
              <a:t>AI screening + a WhatsApp/chat assistant for big-volume jobs.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Step 3 — </a:t>
            </a:r>
            <a:r>
              <a:rPr sz="1200">
                <a:solidFill>
                  <a:srgbClr val="3A4452"/>
                </a:solidFill>
                <a:latin typeface="Calibri"/>
              </a:rPr>
              <a:t>AI candidate search + early alerts on who may leave.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>
                <a:solidFill>
                  <a:srgbClr val="3A4452"/>
                </a:solidFill>
                <a:latin typeface="Calibri"/>
              </a:rPr>
              <a:t>Plus job ads on social media.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423160"/>
            <a:ext cx="5414619" cy="246888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9603" y="2606040"/>
            <a:ext cx="49757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💰  COST: ₹9,000 → ₹4,500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9603" y="2990088"/>
            <a:ext cx="4975707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Referrals 20% → 40%+ — </a:t>
            </a:r>
            <a:r>
              <a:rPr sz="1200">
                <a:solidFill>
                  <a:srgbClr val="3A4452"/>
                </a:solidFill>
                <a:latin typeface="Calibri"/>
              </a:rPr>
              <a:t>cheapest channel, and people stay longer.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Agencies 9–10% → under 4% — </a:t>
            </a:r>
            <a:r>
              <a:rPr sz="1200">
                <a:solidFill>
                  <a:srgbClr val="3A4452"/>
                </a:solidFill>
                <a:latin typeface="Calibri"/>
              </a:rPr>
              <a:t>do sourcing &amp; leadership hiring in-house.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AI automation — </a:t>
            </a:r>
            <a:r>
              <a:rPr sz="1200">
                <a:solidFill>
                  <a:srgbClr val="3A4452"/>
                </a:solidFill>
                <a:latin typeface="Calibri"/>
              </a:rPr>
              <a:t>lower cost per candidate at high volume.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Less leaving — </a:t>
            </a:r>
            <a:r>
              <a:rPr sz="1200">
                <a:solidFill>
                  <a:srgbClr val="3A4452"/>
                </a:solidFill>
                <a:latin typeface="Calibri"/>
              </a:rPr>
              <a:t>each avoided replacement saves a full hire +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7492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7492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5129783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The good cycle: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referrals stay longer → fewer people leave → fewer re-hires → recruiters focus on growth, not replacement → agency money moves to cheaper, better channels.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MEASURE &amp; PROTECT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08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How we measure progress — and reduce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48840"/>
            <a:ext cx="5440680" cy="384048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48840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WHAT WE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14884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14884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905963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53288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Hiring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53288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50+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532888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532888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30 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916936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290011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916936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Cost per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916936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₹9,000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916936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916936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₹4,500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00984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674059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300984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Referral hiring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00984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20%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300984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3300984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40%+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685032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058107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685032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Agency spend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685032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9–10%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3685032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64608" y="3685032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4442155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069080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Offer drop-outs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06908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28%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8848" y="406908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4608" y="406908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&lt;12%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453128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826203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445312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People leaving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45312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45%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4453128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64608" y="4453128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&lt;25%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837176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210251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" y="4837176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Stay past 90 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01568" y="4837176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4837176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64608" y="4837176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90%+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330952"/>
            <a:ext cx="5440680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330952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5385816"/>
            <a:ext cx="50200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Best early signal: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how many new joinees stay past 90 days — it warns us before yearly attrition rises.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55080" y="2148840"/>
            <a:ext cx="5269687" cy="2788920"/>
          </a:xfrm>
          <a:prstGeom prst="roundRect">
            <a:avLst>
              <a:gd name="adj" fmla="val 6000"/>
            </a:avLst>
          </a:prstGeom>
          <a:solidFill>
            <a:srgbClr val="FBF2E3"/>
          </a:solidFill>
          <a:ln w="12700">
            <a:solidFill>
              <a:srgbClr val="EAD9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74536" y="233172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700A"/>
                </a:solidFill>
                <a:latin typeface="Calibri"/>
              </a:rPr>
              <a:t>⚠  RISK → WHAT WE 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2715768"/>
            <a:ext cx="4830775" cy="21122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Competitors hiring fast → </a:t>
            </a:r>
            <a:r>
              <a:rPr sz="1200">
                <a:solidFill>
                  <a:srgbClr val="3A4452"/>
                </a:solidFill>
                <a:latin typeface="Calibri"/>
              </a:rPr>
              <a:t>strong brand + quicker offers + referrals.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Speed vs quality → </a:t>
            </a:r>
            <a:r>
              <a:rPr sz="1200">
                <a:solidFill>
                  <a:srgbClr val="3A4452"/>
                </a:solidFill>
                <a:latin typeface="Calibri"/>
              </a:rPr>
              <a:t>ready candidate lists + proper assessment.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Attrition not falling → </a:t>
            </a:r>
            <a:r>
              <a:rPr sz="1200">
                <a:solidFill>
                  <a:srgbClr val="3A4452"/>
                </a:solidFill>
                <a:latin typeface="Calibri"/>
              </a:rPr>
              <a:t>focus first on joining &amp; the first 90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Slow software adoption → </a:t>
            </a:r>
            <a:r>
              <a:rPr sz="1200">
                <a:solidFill>
                  <a:srgbClr val="3A4452"/>
                </a:solidFill>
                <a:latin typeface="Calibri"/>
              </a:rPr>
              <a:t>make ATS compulsory; link to manager reviews.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Sudden demand → </a:t>
            </a:r>
            <a:r>
              <a:rPr sz="1200">
                <a:solidFill>
                  <a:srgbClr val="3A4452"/>
                </a:solidFill>
                <a:latin typeface="Calibri"/>
              </a:rPr>
              <a:t>100-hire buffer + ready candidate lists.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074920"/>
            <a:ext cx="5269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2"/>
                </a:solidFill>
                <a:latin typeface="Calibri"/>
              </a:rPr>
              <a:t>Review rhythm: </a:t>
            </a:r>
            <a:r>
              <a:rPr sz="1200" b="0" i="0">
                <a:solidFill>
                  <a:srgbClr val="3A4452"/>
                </a:solidFill>
                <a:latin typeface="Calibri"/>
              </a:rPr>
              <a:t>weekly team review (operations) · monthly review with CEO/CHRO (strategy).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02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Consolidated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65836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C7686"/>
                </a:solidFill>
                <a:latin typeface="Calibri"/>
              </a:rPr>
              <a:t>OUTCOMES &amp; 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783080"/>
            <a:ext cx="6675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F1722"/>
                </a:solidFill>
                <a:latin typeface="Calibri"/>
              </a:rPr>
              <a:t>The same ~1,000 hires,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F1722"/>
                </a:solidFill>
                <a:latin typeface="Calibri"/>
              </a:rPr>
              <a:t>now driving </a:t>
            </a:r>
            <a:r>
              <a:rPr sz="3200" b="1" i="0">
                <a:solidFill>
                  <a:srgbClr val="0B7D72"/>
                </a:solidFill>
                <a:latin typeface="Calibri"/>
              </a:rPr>
              <a:t>real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6126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3A4452"/>
                </a:solidFill>
                <a:latin typeface="Calibri"/>
              </a:rPr>
              <a:t>“We cannot reach ₹5,000 Cr if 45% of people keep leaving. Fix retention and speed together — faster, cheaper, and people who stay.”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630936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4982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C7686"/>
                </a:solidFill>
                <a:latin typeface="Calibri"/>
              </a:rPr>
              <a:t>Head – Talent Acquisition, Consolidated Pvt Ltd  ·  Hiring as a key business driver  ·  12–24 month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85800"/>
            <a:ext cx="3687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7C8B8"/>
                </a:solidFill>
                <a:latin typeface="Calibri"/>
              </a:rPr>
              <a:t>WHERE WE REACH IN 18–24 MONTHS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71600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36192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30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084832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AVERAGE HIRING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578608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743200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below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91840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PEOPLE LEAVING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85616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3950208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₹4,500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498848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COST PER HIRE (HALF)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4992624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5157216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→ ₹5,000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705856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GROWTH SUPPORTED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