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102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Consolidated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658368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C7686"/>
                </a:solidFill>
                <a:latin typeface="Calibri"/>
              </a:rPr>
              <a:t>APPLE PARTNER RETAIL · OMNICHANNEL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83080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F1722"/>
                </a:solidFill>
                <a:latin typeface="Calibri"/>
              </a:rPr>
              <a:t>Building a </a:t>
            </a:r>
            <a:r>
              <a:rPr sz="4000" b="1" i="0">
                <a:solidFill>
                  <a:srgbClr val="0B7D72"/>
                </a:solidFill>
                <a:latin typeface="Calibri"/>
              </a:rPr>
              <a:t>Talent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F1722"/>
                </a:solidFill>
                <a:latin typeface="Calibri"/>
              </a:rPr>
              <a:t>for the ₹5,000 Cr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3A4452"/>
                </a:solidFill>
                <a:latin typeface="Calibri"/>
              </a:rPr>
              <a:t>A data-driven Talent Acquisition strategy to scale hiring, stop frontline attrition, and convert TA into a strategic business lever.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440680"/>
            <a:ext cx="630936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C7686"/>
                </a:solidFill>
                <a:latin typeface="Calibri"/>
              </a:rPr>
              <a:t>Prepared for 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CEO · CHRO · Business Heads</a:t>
            </a:r>
            <a:r>
              <a:rPr sz="1200" b="0" i="0">
                <a:solidFill>
                  <a:srgbClr val="6C7686"/>
                </a:solidFill>
                <a:latin typeface="Calibri"/>
              </a:rPr>
              <a:t>   ·   Head – Talent Acquisition   ·   12–24 month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85800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THE MANDATE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36192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₹3,000 → ₹5,000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2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REVENUE, NEXT 12–24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578608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91840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HIRES REQUIRED PER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785616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950208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45% → &lt;25%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498848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ATTRITION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992624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5157216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50+ → ≤30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05856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TIME-TO-HIRE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01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One hiring engine, three breaking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Built to grow +50–66% to ₹5,000 Cr, but the hiring engine is built for a smaller, slower company. ~1,000 hires needed this year — ~820 of them high-volume frontline.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26272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41148" cy="1051560"/>
          </a:xfrm>
          <a:prstGeom prst="rect">
            <a:avLst/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78024"/>
            <a:ext cx="2316403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6453A"/>
                </a:solidFill>
                <a:latin typeface="Calibri"/>
              </a:rPr>
              <a:t>45%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Overall attrition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1"/>
                </a:solidFill>
                <a:latin typeface="Calibri"/>
              </a:rPr>
              <a:t>target &lt;25%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7107" y="2331720"/>
            <a:ext cx="26272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7107" y="2331720"/>
            <a:ext cx="41148" cy="1051560"/>
          </a:xfrm>
          <a:prstGeom prst="rect">
            <a:avLst/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8275" y="2478024"/>
            <a:ext cx="2316403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6453A"/>
                </a:solidFill>
                <a:latin typeface="Calibri"/>
              </a:rPr>
              <a:t>55%+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Frontline attrition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1"/>
                </a:solidFill>
                <a:latin typeface="Calibri"/>
              </a:rPr>
              <a:t>11-month tenure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331720"/>
            <a:ext cx="26272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331720"/>
            <a:ext cx="41148" cy="1051560"/>
          </a:xfrm>
          <a:prstGeom prst="rect">
            <a:avLst/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8455" y="2478024"/>
            <a:ext cx="2316403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6453A"/>
                </a:solidFill>
                <a:latin typeface="Calibri"/>
              </a:rPr>
              <a:t>50+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Day average TAT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1"/>
                </a:solidFill>
                <a:latin typeface="Calibri"/>
              </a:rPr>
              <a:t>target ≤30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467" y="2331720"/>
            <a:ext cx="26272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467" y="2331720"/>
            <a:ext cx="41148" cy="1051560"/>
          </a:xfrm>
          <a:prstGeom prst="rect">
            <a:avLst/>
          </a:prstGeom>
          <a:solidFill>
            <a:srgbClr val="C2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635" y="2478024"/>
            <a:ext cx="2316403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2"/>
                </a:solidFill>
                <a:latin typeface="Calibri"/>
              </a:rPr>
              <a:t>₹9,000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Cost per hire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3B1"/>
                </a:solidFill>
                <a:latin typeface="Calibri"/>
              </a:rPr>
              <a:t>target ₹4,500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11880"/>
            <a:ext cx="356402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76472"/>
            <a:ext cx="31616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1  The leaky bucket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87954" y="379476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7954" y="380390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178808"/>
            <a:ext cx="31616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45% attrition, 55%+ frontline, 11-month tenure. ~55% of hiring just replaces churn instead of fuelling growth.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3834" y="3611880"/>
            <a:ext cx="356402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5002" y="3776472"/>
            <a:ext cx="31616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2  Reactive &amp; slow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4860" y="379476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4860" y="380390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SLOW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5002" y="4178808"/>
            <a:ext cx="31616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50+ day TAT, weak forecasting, reactive pipelines. Stores open understaffed; panic hiring lowers quality.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0740" y="3611880"/>
            <a:ext cx="356402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1908" y="3776472"/>
            <a:ext cx="31616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3  Expensive &amp; manual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81767" y="379476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81767" y="380390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1908" y="4178808"/>
            <a:ext cx="31616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₹9,000/hire, 9–10% agency spend, partial ATS, no AI/analytics, only 20% referral hiring.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1208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26694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Core insight: </a:t>
            </a:r>
            <a:r>
              <a:rPr sz="1250" b="0" i="0">
                <a:solidFill>
                  <a:srgbClr val="3A4452"/>
                </a:solidFill>
                <a:latin typeface="Calibri"/>
              </a:rPr>
              <a:t>the three problems feed a vicious cycle — attrition forces volume → volume overwhelms a slow process → slowness forces premium agency hiring → mismatched hires churn again. </a:t>
            </a:r>
            <a:r>
              <a:rPr sz="1250" b="1" i="0">
                <a:solidFill>
                  <a:srgbClr val="0F1722"/>
                </a:solidFill>
                <a:latin typeface="Calibri"/>
              </a:rPr>
              <a:t>Breaking the attrition link collapses the cycle.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BENCHMARKS · GLOBAL &amp;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02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Every target we're setting has already been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Retail churns at ~2× the economy, so &lt;25% is best-in-class. Leaders prove the speed; an Indian Apple Premium Partner peer proves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35640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31616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🌯  Chipotle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7954" y="246888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7954" y="247802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AI · 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52928"/>
            <a:ext cx="31616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Time-to-hire 12 → 4 days at ~10k hires/yr via conversational AI. Our hero proof-point.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3834" y="2286000"/>
            <a:ext cx="35640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5002" y="2450592"/>
            <a:ext cx="31616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🏪  7-Eleven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4860" y="246888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4860" y="247802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5002" y="2852928"/>
            <a:ext cx="31616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Time-to-hire ~10 → &lt;5 days via AI apply / screen / schedule 24/7.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0740" y="2286000"/>
            <a:ext cx="35640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1908" y="2450592"/>
            <a:ext cx="31616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☕  Starbucks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81767" y="246888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81767" y="247802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RETAIN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1908" y="2852928"/>
            <a:ext cx="31616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Turnover cut 65% → 49% via wages, benefits &amp; visible career paths.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94760"/>
            <a:ext cx="5437479" cy="128016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 w="12700">
            <a:solidFill>
              <a:srgbClr val="BF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959352"/>
            <a:ext cx="50351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🦄  Unicorn Infosolutions — Apple Premium Partner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61407" y="397764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1407" y="398678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INDIA PEER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361688"/>
            <a:ext cx="50351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₹3,700 Cr+ turnover · ~100 stores + 39 service centres · 49 cities / 9 states · 1,500+ staff. Almost exactly Consolidated's profile.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287" y="3794760"/>
            <a:ext cx="543747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8455" y="3959352"/>
            <a:ext cx="50351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📱  The India hiring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81767" y="3977640"/>
            <a:ext cx="960120" cy="256032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1767" y="3986784"/>
            <a:ext cx="960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7D72"/>
                </a:solidFill>
                <a:latin typeface="Calibri"/>
              </a:rPr>
              <a:t>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455" y="4361688"/>
            <a:ext cx="50351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Vahan.ai WhatsApp AI recruiter (2–3 day fill) · Apna 22M-user network · RASCI/NAPS apprenticeships · Lenskart Academy training.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85232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85232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340096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452"/>
                </a:solidFill>
                <a:latin typeface="Calibri"/>
              </a:rPr>
              <a:t>Retail turnover ~27% vs 13% economy-wide; even Reliance Retail cut ~38,000 net jobs in FY24 while hiring hard — churn is structural. </a:t>
            </a:r>
            <a:r>
              <a:rPr sz="1250" b="1" i="0">
                <a:solidFill>
                  <a:srgbClr val="0F1722"/>
                </a:solidFill>
                <a:latin typeface="Calibri"/>
              </a:rPr>
              <a:t>Sources verified: Mercer, Starbucks ESG, Paradox, RIL FY24, FranchiseIndia, RASCI.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03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From reactive hiring desk to talent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The shift is from filling requisitions after they open to forecasting demand from the store-expansion plan and building talent ahead of need — measured on quality and tenure, not just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68880"/>
            <a:ext cx="262729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68880"/>
            <a:ext cx="41148" cy="1737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51760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⚡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27248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Pipelines + AI + stage SLAs, owned by TA 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840480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7D72"/>
                </a:solidFill>
                <a:latin typeface="Calibri"/>
              </a:rPr>
              <a:t>Metric: ≤30-day TAT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7107" y="2468880"/>
            <a:ext cx="262729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7107" y="2468880"/>
            <a:ext cx="41148" cy="1737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8275" y="2651760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🎯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8275" y="3127248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Culture-fit scorecards + realistic job previews.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8275" y="3840480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7D72"/>
                </a:solidFill>
                <a:latin typeface="Calibri"/>
              </a:rPr>
              <a:t>Metric: 90-day stick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468880"/>
            <a:ext cx="262729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468880"/>
            <a:ext cx="41148" cy="1737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8455" y="2651760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⚙️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455" y="3127248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40%+ referrals, &lt;4% agency, AI automation.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455" y="3840480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7D72"/>
                </a:solidFill>
                <a:latin typeface="Calibri"/>
              </a:rPr>
              <a:t>Metric: cost/hire ₹4,500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467" y="2468880"/>
            <a:ext cx="262729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467" y="2468880"/>
            <a:ext cx="41148" cy="1737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635" y="2651760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✨ Brand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635" y="3127248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Always-on content + Apple-ecosystem prestige.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635" y="3840480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7D72"/>
                </a:solidFill>
                <a:latin typeface="Calibri"/>
              </a:rPr>
              <a:t>Metric: offer-accept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61772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617720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672583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452"/>
                </a:solidFill>
                <a:latin typeface="Calibri"/>
              </a:rPr>
              <a:t>Four pillars, each with a named owner and a hard metric — so vision translates directly into accountability on the KPI dashboard.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EXECUTION · FIRST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04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A sequenced 30 · 60 · 90 day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Deliberately ordered — you cannot scale a broken process. Stabilise and instrument first, build the engine second, prove results third.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353354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578608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57860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Days 0–30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90672"/>
            <a:ext cx="31312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Diagnose &amp; Stabilize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20440"/>
            <a:ext cx="313121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Audit reqs, TAT, source-of-hire &amp; attrition by store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Mandate full ATS adoption — one source of truth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War-room for the 100 new-store buffer roles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Relaunch referrals with instant payouts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9074" y="2377440"/>
            <a:ext cx="353354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0242" y="2578608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0242" y="257860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Days 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242" y="3090672"/>
            <a:ext cx="31312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Build the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242" y="3520440"/>
            <a:ext cx="313121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Structured interview kits + culture-fit scorecards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Always-on talent pools for high-volume roles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Onboarding redesign: Day-1 + 30/60/90 check-ins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Deploy AI screening + chatbot; cut consultants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220" y="2377440"/>
            <a:ext cx="353354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92388" y="2578608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2388" y="257860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Days 61–90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2388" y="3090672"/>
            <a:ext cx="31312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722"/>
                </a:solidFill>
                <a:latin typeface="Calibri"/>
              </a:rPr>
              <a:t>Scale &amp; 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388" y="3520440"/>
            <a:ext cx="313121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Early wins: TAT ~40 days; offer-drop &lt;20%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Launch employer-brand content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Go live with the real-time KPI dashboard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• </a:t>
            </a:r>
            <a:r>
              <a:rPr sz="1150">
                <a:solidFill>
                  <a:srgbClr val="3A4452"/>
                </a:solidFill>
                <a:latin typeface="Calibri"/>
              </a:rPr>
              <a:t>Present committed 12-month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12-MONTH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05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Four quarters to a scalable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Dependency-ordered, not parallel: foundation enables speed, speed frees focus for quality &amp; brand, quality enables optimisation. Each quarter has a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262729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578608"/>
            <a:ext cx="676656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676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47872"/>
            <a:ext cx="2261539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Full ATS live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Structured hiring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Referral engine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Onboarding 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919472"/>
            <a:ext cx="2261539" cy="36576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19472"/>
            <a:ext cx="21700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Gate: ATS adoption &gt;90%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7107" y="2377440"/>
            <a:ext cx="262729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59987" y="2578608"/>
            <a:ext cx="676656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987" y="2578608"/>
            <a:ext cx="676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987" y="3090672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9987" y="3547872"/>
            <a:ext cx="2261539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AI screening at scale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Pools for top 5 roles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SLA-locked funnel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9987" y="4919472"/>
            <a:ext cx="2261539" cy="36576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3139" y="4919472"/>
            <a:ext cx="21700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Gate: TAT ≤35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377440"/>
            <a:ext cx="262729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0167" y="2578608"/>
            <a:ext cx="676656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167" y="2578608"/>
            <a:ext cx="676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090672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Quality &amp; Brand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3547872"/>
            <a:ext cx="2261539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Employer-brand push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Leadership playbook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Career ladders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0167" y="4919472"/>
            <a:ext cx="2261539" cy="36576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4919472"/>
            <a:ext cx="21700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Gate: attrition &lt;35%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467" y="2377440"/>
            <a:ext cx="262729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80347" y="2578608"/>
            <a:ext cx="676656" cy="36576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347" y="2578608"/>
            <a:ext cx="676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347" y="3090672"/>
            <a:ext cx="2261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2"/>
                </a:solidFill>
                <a:latin typeface="Calibri"/>
              </a:rPr>
              <a:t>Optimize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347" y="3547872"/>
            <a:ext cx="2261539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Cost &amp; agency squeeze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• </a:t>
            </a:r>
            <a:r>
              <a:rPr sz="1100">
                <a:solidFill>
                  <a:srgbClr val="6C7686"/>
                </a:solidFill>
                <a:latin typeface="Calibri"/>
              </a:rPr>
              <a:t>Predictive pipelines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0347" y="4919472"/>
            <a:ext cx="2261539" cy="36576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499" y="4919472"/>
            <a:ext cx="21700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Gate: TAT ≤30 · ₹4,500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ORGANIZATION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06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A team built for 1,000+ hires a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A Centre-of-Excellence + embedded model — central teams own tooling, analytics &amp; standards; embedded recruiters sit with the business. ~13–15 people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15687" y="2286000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687" y="22860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Head – Talent Acquisition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6703" y="2788920"/>
            <a:ext cx="18288" cy="27432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200400"/>
            <a:ext cx="206526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00400"/>
            <a:ext cx="2065263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383280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Volume / Retail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8587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C7686"/>
                </a:solidFill>
                <a:latin typeface="Calibri"/>
              </a:rPr>
              <a:t>Frontline &amp; service hiring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6639" y="425196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6639" y="425196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~820 / yr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5071" y="3200400"/>
            <a:ext cx="206526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5071" y="3200400"/>
            <a:ext cx="2065263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3087" y="3383280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Corporate &amp;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3087" y="38587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C7686"/>
                </a:solidFill>
                <a:latin typeface="Calibri"/>
              </a:rPr>
              <a:t>B2B · Edu · Corporate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4783" y="425196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4783" y="425196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~160 / yr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3215" y="3200400"/>
            <a:ext cx="206526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63215" y="3200400"/>
            <a:ext cx="2065263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1231" y="3383280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Leadership &amp; Niche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1231" y="38587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C7686"/>
                </a:solidFill>
                <a:latin typeface="Calibri"/>
              </a:rPr>
              <a:t>Exec search in-sourced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92927" y="425196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2927" y="425196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predictable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1359" y="3200400"/>
            <a:ext cx="206526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1359" y="3200400"/>
            <a:ext cx="2065263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39375" y="3383280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TA Ops &amp;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9375" y="38587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C7686"/>
                </a:solidFill>
                <a:latin typeface="Calibri"/>
              </a:rPr>
              <a:t>ATS · AI · dashboards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1071" y="425196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1071" y="425196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backbone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9503" y="3200400"/>
            <a:ext cx="206526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59503" y="3200400"/>
            <a:ext cx="2065263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87519" y="3383280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Employer Brand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7519" y="38587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C7686"/>
                </a:solidFill>
                <a:latin typeface="Calibri"/>
              </a:rPr>
              <a:t>Always-on sourcing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89215" y="425196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9215" y="425196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D72"/>
                </a:solidFill>
                <a:latin typeface="Calibri"/>
              </a:rPr>
              <a:t>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02920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029200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08406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Sizing: </a:t>
            </a:r>
            <a:r>
              <a:rPr sz="1250" b="0" i="0">
                <a:solidFill>
                  <a:srgbClr val="3A4452"/>
                </a:solidFill>
                <a:latin typeface="Calibri"/>
              </a:rPr>
              <a:t>volume recruiter ≈ 120–150 hires/yr · corporate ≈ 40–60 → ~6–7 recruiters, 3–4 sourcers, 1 ops/analytics, 1 brand + 4 leads. Capability shifts to sourcing, data &amp; stakeholder management.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FASTER HIRING · 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07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Cutting time-to-hire from 50+ to ≤30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TAT collapses when you stop starting from zero on every role. The funnel stalls when sourcing starts from scratch and while waiting on hiring-manager feedback. The fix is structural.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262432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58568" y="262432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2624328"/>
            <a:ext cx="3593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50+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After pooling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312724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58568" y="3127248"/>
            <a:ext cx="2666390" cy="274320"/>
          </a:xfrm>
          <a:prstGeom prst="roundRect">
            <a:avLst>
              <a:gd name="adj" fmla="val 6000"/>
            </a:avLst>
          </a:prstGeom>
          <a:solidFill>
            <a:srgbClr val="C2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3127248"/>
            <a:ext cx="255666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~36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1188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58568" y="363016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58568" y="3630168"/>
            <a:ext cx="2147925" cy="2743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8568" y="3630168"/>
            <a:ext cx="203819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≤30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11480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Volume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58568" y="4133087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58568" y="4133087"/>
            <a:ext cx="1407261" cy="274320"/>
          </a:xfrm>
          <a:prstGeom prst="roundRect">
            <a:avLst>
              <a:gd name="adj" fmla="val 6000"/>
            </a:avLst>
          </a:prstGeom>
          <a:solidFill>
            <a:srgbClr val="0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8568" y="4133087"/>
            <a:ext cx="129753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≤20 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63440"/>
            <a:ext cx="5394960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663440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718303"/>
            <a:ext cx="4974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Benchmark: </a:t>
            </a:r>
            <a:r>
              <a:rPr sz="1250" b="0" i="0">
                <a:solidFill>
                  <a:srgbClr val="3A4452"/>
                </a:solidFill>
                <a:latin typeface="Calibri"/>
              </a:rPr>
              <a:t>Chipotle runs 12 → 4 days at ~10k hires/yr — our ≤30-day target is conservative.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468880"/>
            <a:ext cx="5315407" cy="310896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 w="12700">
            <a:solidFill>
              <a:srgbClr val="BF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2651760"/>
            <a:ext cx="4876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7D72"/>
                </a:solidFill>
                <a:latin typeface="Calibri"/>
              </a:rPr>
              <a:t>🎯  THE CONCRETE TAT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3035808"/>
            <a:ext cx="4876495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Pipeline, not posting — </a:t>
            </a:r>
            <a:r>
              <a:rPr sz="1200">
                <a:solidFill>
                  <a:srgbClr val="3A4452"/>
                </a:solidFill>
                <a:latin typeface="Calibri"/>
              </a:rPr>
              <a:t>pre-screened pools for ~820 volume roles → days, not weeks.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Parallel funnel — </a:t>
            </a:r>
            <a:r>
              <a:rPr sz="1200">
                <a:solidFill>
                  <a:srgbClr val="3A4452"/>
                </a:solidFill>
                <a:latin typeface="Calibri"/>
              </a:rPr>
              <a:t>screen, assess &amp; schedule concurrently; AI screens 24/7.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SLA-locked stages — </a:t>
            </a:r>
            <a:r>
              <a:rPr sz="1200">
                <a:solidFill>
                  <a:srgbClr val="3A4452"/>
                </a:solidFill>
                <a:latin typeface="Calibri"/>
              </a:rPr>
              <a:t>HM feedback in 48h, interview-to-offer in 5 days.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Instant scheduling </a:t>
            </a:r>
            <a:r>
              <a:rPr sz="1200">
                <a:solidFill>
                  <a:srgbClr val="3A4452"/>
                </a:solidFill>
                <a:latin typeface="Calibri"/>
              </a:rPr>
              <a:t>via chatbot for frontline; exec-search bench for leadership.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Cut offer-drop 28% → &lt;12% </a:t>
            </a:r>
            <a:r>
              <a:rPr sz="1200">
                <a:solidFill>
                  <a:srgbClr val="3A4452"/>
                </a:solidFill>
                <a:latin typeface="Calibri"/>
              </a:rPr>
              <a:t>with faster cycles &amp; transparent comp.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ATTRITION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08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45% → below 25% in 18–24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Attrition is front-loaded — ~20% of new hires leave within 45 days, ~70% of leavers within 90 days. The framework attacks all three stages where tenure is won or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257860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58568" y="257860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2578608"/>
            <a:ext cx="3593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63239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12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3081527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58568" y="3081527"/>
            <a:ext cx="2888589" cy="274320"/>
          </a:xfrm>
          <a:prstGeom prst="roundRect">
            <a:avLst>
              <a:gd name="adj" fmla="val 6000"/>
            </a:avLst>
          </a:prstGeom>
          <a:solidFill>
            <a:srgbClr val="C2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3081527"/>
            <a:ext cx="27788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~35%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6616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A4452"/>
                </a:solidFill>
                <a:latin typeface="Calibri"/>
              </a:rPr>
              <a:t>24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58568" y="3584448"/>
            <a:ext cx="3703320" cy="2743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58568" y="3584448"/>
            <a:ext cx="2036826" cy="274320"/>
          </a:xfrm>
          <a:prstGeom prst="roundRect">
            <a:avLst>
              <a:gd name="adj" fmla="val 6000"/>
            </a:avLst>
          </a:prstGeom>
          <a:solidFill>
            <a:srgbClr val="0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8568" y="3584448"/>
            <a:ext cx="192709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&lt;25%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1688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60520"/>
            <a:ext cx="41148" cy="914400"/>
          </a:xfrm>
          <a:prstGeom prst="rect">
            <a:avLst/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06824"/>
            <a:ext cx="1377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6453A"/>
                </a:solidFill>
                <a:latin typeface="Calibri"/>
              </a:rPr>
              <a:t>20%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leave by day 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0112" y="4160520"/>
            <a:ext cx="1688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0112" y="4160520"/>
            <a:ext cx="41148" cy="914400"/>
          </a:xfrm>
          <a:prstGeom prst="rect">
            <a:avLst/>
          </a:prstGeom>
          <a:solidFill>
            <a:srgbClr val="D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1280" y="4306824"/>
            <a:ext cx="1377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6453A"/>
                </a:solidFill>
                <a:latin typeface="Calibri"/>
              </a:rPr>
              <a:t>70%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of leavers by day 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3296" y="4160520"/>
            <a:ext cx="1688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96" y="4160520"/>
            <a:ext cx="41148" cy="914400"/>
          </a:xfrm>
          <a:prstGeom prst="rect">
            <a:avLst/>
          </a:prstGeom>
          <a:solidFill>
            <a:srgbClr val="0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4464" y="4306824"/>
            <a:ext cx="1377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A8F5F"/>
                </a:solidFill>
                <a:latin typeface="Calibri"/>
              </a:rPr>
              <a:t>69%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6"/>
                </a:solidFill>
                <a:latin typeface="Calibri"/>
              </a:rPr>
              <a:t>stay 3+ yrs if onboarded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468880"/>
            <a:ext cx="5315407" cy="315468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 w="12700">
            <a:solidFill>
              <a:srgbClr val="BF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2651760"/>
            <a:ext cx="4876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7D72"/>
                </a:solidFill>
                <a:latin typeface="Calibri"/>
              </a:rPr>
              <a:t>🎯  THE THREE-STAGE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3035808"/>
            <a:ext cx="4876495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A · Hire right — </a:t>
            </a:r>
            <a:r>
              <a:rPr sz="1200">
                <a:solidFill>
                  <a:srgbClr val="3A4452"/>
                </a:solidFill>
                <a:latin typeface="Calibri"/>
              </a:rPr>
              <a:t>culture-fit &amp; realistic-job-preview screening + 40%+ referrals.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B · Onboard right — </a:t>
            </a:r>
            <a:r>
              <a:rPr sz="1200">
                <a:solidFill>
                  <a:srgbClr val="3A4452"/>
                </a:solidFill>
                <a:latin typeface="Calibri"/>
              </a:rPr>
              <a:t>Day-1 readiness, buddy system, 30/60/90 check-ins, a named 90-day owner.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C · Retain right — </a:t>
            </a:r>
            <a:r>
              <a:rPr sz="1200">
                <a:solidFill>
                  <a:srgbClr val="3A4452"/>
                </a:solidFill>
                <a:latin typeface="Calibri"/>
              </a:rPr>
              <a:t>Advisor→Senior→Team Lead→Store Manager ladder + attrition analytics.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Sequence — </a:t>
            </a:r>
            <a:r>
              <a:rPr sz="1200">
                <a:solidFill>
                  <a:srgbClr val="3A4452"/>
                </a:solidFill>
                <a:latin typeface="Calibri"/>
              </a:rPr>
              <a:t>target the 55%+ frontline &amp; 11-month cliff first.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TECHNOLOGY, AI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09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AI drives the speed — and halves the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A4452"/>
                </a:solidFill>
                <a:latin typeface="Calibri"/>
              </a:rPr>
              <a:t>AI absorbs the repetitive, high-volume work that eats recruiter time and agency fees. Cost falls mainly as a by-product of more referrals, fewer agencies, and less rework from lower attrition.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23160"/>
            <a:ext cx="541461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06040"/>
            <a:ext cx="49757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722"/>
                </a:solidFill>
                <a:latin typeface="Calibri"/>
              </a:rPr>
              <a:t>🤖  RECRUITMENT TECH STACK — PHASED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90088"/>
            <a:ext cx="4975707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Phase 1 — </a:t>
            </a:r>
            <a:r>
              <a:rPr sz="1200">
                <a:solidFill>
                  <a:srgbClr val="3A4452"/>
                </a:solidFill>
                <a:latin typeface="Calibri"/>
              </a:rPr>
              <a:t>full ATS + live dashboards (the data spine).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Phase 2 — </a:t>
            </a:r>
            <a:r>
              <a:rPr sz="1200">
                <a:solidFill>
                  <a:srgbClr val="3A4452"/>
                </a:solidFill>
                <a:latin typeface="Calibri"/>
              </a:rPr>
              <a:t>AI screening + conversational chatbot on volume funnels.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Phase 3 — </a:t>
            </a:r>
            <a:r>
              <a:rPr sz="1200">
                <a:solidFill>
                  <a:srgbClr val="3A4452"/>
                </a:solidFill>
                <a:latin typeface="Calibri"/>
              </a:rPr>
              <a:t>AI sourcing + predictive attrition analytics.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• </a:t>
            </a:r>
            <a:r>
              <a:rPr sz="1200">
                <a:solidFill>
                  <a:srgbClr val="3A4452"/>
                </a:solidFill>
                <a:latin typeface="Calibri"/>
              </a:rPr>
              <a:t>Plus employer-brand programmatic ads &amp; social distribution.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423160"/>
            <a:ext cx="5414619" cy="2468880"/>
          </a:xfrm>
          <a:prstGeom prst="roundRect">
            <a:avLst>
              <a:gd name="adj" fmla="val 6000"/>
            </a:avLst>
          </a:prstGeom>
          <a:solidFill>
            <a:srgbClr val="E7F5F3"/>
          </a:solidFill>
          <a:ln w="12700">
            <a:solidFill>
              <a:srgbClr val="BF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9603" y="2606040"/>
            <a:ext cx="49757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7D72"/>
                </a:solidFill>
                <a:latin typeface="Calibri"/>
              </a:rPr>
              <a:t>💰  COST: ₹9,000 → ₹4,500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603" y="2990088"/>
            <a:ext cx="4975707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Referrals 20% → 40%+ — </a:t>
            </a:r>
            <a:r>
              <a:rPr sz="1200">
                <a:solidFill>
                  <a:srgbClr val="3A4452"/>
                </a:solidFill>
                <a:latin typeface="Calibri"/>
              </a:rPr>
              <a:t>cheapest channel &amp; highest retention.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Agency 9–10% → &lt;4% — </a:t>
            </a:r>
            <a:r>
              <a:rPr sz="1200">
                <a:solidFill>
                  <a:srgbClr val="3A4452"/>
                </a:solidFill>
                <a:latin typeface="Calibri"/>
              </a:rPr>
              <a:t>in-source sourcing &amp; leadership search.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AI automation — </a:t>
            </a:r>
            <a:r>
              <a:rPr sz="1200">
                <a:solidFill>
                  <a:srgbClr val="3A4452"/>
                </a:solidFill>
                <a:latin typeface="Calibri"/>
              </a:rPr>
              <a:t>lower cost-per-touch at volume.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B7D72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Lower attrition — </a:t>
            </a:r>
            <a:r>
              <a:rPr sz="1200">
                <a:solidFill>
                  <a:srgbClr val="3A4452"/>
                </a:solidFill>
                <a:latin typeface="Calibri"/>
              </a:rPr>
              <a:t>every avoided replacement saves a full hire + ramp-up.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7492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074920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129783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The flywheel: </a:t>
            </a:r>
            <a:r>
              <a:rPr sz="1250" b="0" i="0">
                <a:solidFill>
                  <a:srgbClr val="3A4452"/>
                </a:solidFill>
                <a:latin typeface="Calibri"/>
              </a:rPr>
              <a:t>referrals stay longer → attrition falls → fewer re-hires → recruiters focus on growth, not churn → agency budget reallocated to cheaper, stickier channels.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METRICS, GOVERNANCE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4206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2"/>
                </a:solidFill>
                <a:latin typeface="Calibri"/>
              </a:rPr>
              <a:t>10</a:t>
            </a:r>
            <a:r>
              <a:rPr sz="1300" b="0" i="0">
                <a:solidFill>
                  <a:srgbClr val="9AA3B1"/>
                </a:solidFill>
                <a:latin typeface="Calibri"/>
              </a:rPr>
              <a:t> 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57839" cy="20116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841248"/>
            <a:ext cx="566928" cy="201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2"/>
                </a:solidFill>
                <a:latin typeface="Calibri"/>
              </a:rPr>
              <a:t>How we track it — and de-risk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5440680" cy="384048"/>
          </a:xfrm>
          <a:prstGeom prst="rect">
            <a:avLst/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14884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14884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905963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32888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Average 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53288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50+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532888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53288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≤30 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16936"/>
            <a:ext cx="5440680" cy="38404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290011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916936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Cost per hire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916936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₹9,000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916936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916936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₹4,500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74059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300984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Referral hiring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300984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300984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300984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40%+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685032"/>
            <a:ext cx="5440680" cy="38404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058107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685032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Consultant spend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685032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9–10%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685032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685032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&lt;4%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442155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06908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Offer drop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06908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28%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069080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406908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&lt;12%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453128"/>
            <a:ext cx="5440680" cy="38404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826203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453128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Attrition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" y="445312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4453128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445312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&lt;25%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210251"/>
            <a:ext cx="544068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837176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A4452"/>
                </a:solidFill>
                <a:latin typeface="Calibri"/>
              </a:rPr>
              <a:t>90-day stick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0128" y="4837176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6453A"/>
                </a:solidFill>
                <a:latin typeface="Calibri"/>
              </a:rPr>
              <a:t>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4837176"/>
            <a:ext cx="365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3B1"/>
                </a:solidFill>
                <a:latin typeface="Calibr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3168" y="4837176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8F5F"/>
                </a:solidFill>
                <a:latin typeface="Calibri"/>
              </a:rPr>
              <a:t>90%+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330952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330952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5385816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2"/>
                </a:solidFill>
                <a:latin typeface="Calibri"/>
              </a:rPr>
              <a:t>Lead indicator: </a:t>
            </a:r>
            <a:r>
              <a:rPr sz="1250" b="0" i="0">
                <a:solidFill>
                  <a:srgbClr val="3A4452"/>
                </a:solidFill>
                <a:latin typeface="Calibri"/>
              </a:rPr>
              <a:t>90-day stick rate predicts attrition months before the annual number moves.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2148840"/>
            <a:ext cx="5269687" cy="2788920"/>
          </a:xfrm>
          <a:prstGeom prst="roundRect">
            <a:avLst>
              <a:gd name="adj" fmla="val 6000"/>
            </a:avLst>
          </a:prstGeom>
          <a:solidFill>
            <a:srgbClr val="FBF2E3"/>
          </a:solidFill>
          <a:ln w="12700">
            <a:solidFill>
              <a:srgbClr val="EAD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4536" y="2331720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2700A"/>
                </a:solidFill>
                <a:latin typeface="Calibri"/>
              </a:rPr>
              <a:t>⚠  RISK → MITIGATION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74536" y="2715768"/>
            <a:ext cx="4830775" cy="2112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C2700A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Competitors hiring hard → </a:t>
            </a:r>
            <a:r>
              <a:rPr sz="1200">
                <a:solidFill>
                  <a:srgbClr val="3A4452"/>
                </a:solidFill>
                <a:latin typeface="Calibri"/>
              </a:rPr>
              <a:t>employer brand + faster offers + referral pull.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C2700A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Speed vs quality → </a:t>
            </a:r>
            <a:r>
              <a:rPr sz="1200">
                <a:solidFill>
                  <a:srgbClr val="3A4452"/>
                </a:solidFill>
                <a:latin typeface="Calibri"/>
              </a:rPr>
              <a:t>pipelines + structured assessment.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C2700A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Attrition slow to fall → </a:t>
            </a:r>
            <a:r>
              <a:rPr sz="1200">
                <a:solidFill>
                  <a:srgbClr val="3A4452"/>
                </a:solidFill>
                <a:latin typeface="Calibri"/>
              </a:rPr>
              <a:t>front-load onboarding &amp; first-90-day fixes.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C2700A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Tech adoption lag → </a:t>
            </a:r>
            <a:r>
              <a:rPr sz="1200">
                <a:solidFill>
                  <a:srgbClr val="3A4452"/>
                </a:solidFill>
                <a:latin typeface="Calibri"/>
              </a:rPr>
              <a:t>mandate ATS; tie to manager scorecards.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C2700A"/>
                </a:solidFill>
                <a:latin typeface="Calibri"/>
              </a:rPr>
              <a:t>• </a:t>
            </a:r>
            <a:r>
              <a:rPr sz="1200" b="1">
                <a:solidFill>
                  <a:srgbClr val="0F1722"/>
                </a:solidFill>
                <a:latin typeface="Calibri"/>
              </a:rPr>
              <a:t>Demand spikes → </a:t>
            </a:r>
            <a:r>
              <a:rPr sz="1200">
                <a:solidFill>
                  <a:srgbClr val="3A4452"/>
                </a:solidFill>
                <a:latin typeface="Calibri"/>
              </a:rPr>
              <a:t>100-hire buffer + always-on pools.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074920"/>
            <a:ext cx="5269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722"/>
                </a:solidFill>
                <a:latin typeface="Calibri"/>
              </a:rPr>
              <a:t>Cadence: </a:t>
            </a:r>
            <a:r>
              <a:rPr sz="1200" b="0" i="0">
                <a:solidFill>
                  <a:srgbClr val="3A4452"/>
                </a:solidFill>
                <a:latin typeface="Calibri"/>
              </a:rPr>
              <a:t>weekly war-room (operational) · monthly business review with CEO/CHRO (strategic).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0C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102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Consolidated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658368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9488"/>
                </a:solidFill>
                <a:latin typeface="Calibri"/>
              </a:rPr>
              <a:t>OUTCOMES &amp;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83080"/>
            <a:ext cx="6766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F1722"/>
                </a:solidFill>
                <a:latin typeface="Calibri"/>
              </a:rPr>
              <a:t>The same ~1,000 hires,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F1722"/>
                </a:solidFill>
                <a:latin typeface="Calibri"/>
              </a:rPr>
              <a:t>powering </a:t>
            </a:r>
            <a:r>
              <a:rPr sz="3600" b="1" i="0">
                <a:solidFill>
                  <a:srgbClr val="0B7D72"/>
                </a:solidFill>
                <a:latin typeface="Calibri"/>
              </a:rPr>
              <a:t>real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6217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3A4452"/>
                </a:solidFill>
                <a:latin typeface="Calibri"/>
              </a:rPr>
              <a:t>“We can't hire our way to ₹5,000 Cr while 45% walks out the back door. Fix retention and speed together — faster, cheaper, built to last.”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6309360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C7686"/>
                </a:solidFill>
                <a:latin typeface="Calibri"/>
              </a:rPr>
              <a:t>Head – Talent Acquisition, Consolidated Pvt Ltd  ·  TA as a strategic business lever  ·  12–24 month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85800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WHERE WE LAND IN 18–24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36192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≤30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2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AVERAGE TIME-TO-HIRE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578608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&lt;25%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91840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OVERALL ATTRITION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785616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950208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₹4,500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498848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COST PER HIRE (–50%)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992624"/>
            <a:ext cx="3687775" cy="10972"/>
          </a:xfrm>
          <a:prstGeom prst="rect">
            <a:avLst/>
          </a:prstGeom>
          <a:solidFill>
            <a:srgbClr val="2A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5157216"/>
            <a:ext cx="3687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→ ₹5,000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05856"/>
            <a:ext cx="3687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2C2"/>
                </a:solidFill>
                <a:latin typeface="Calibri"/>
              </a:rPr>
              <a:t>REVENUE ENABLED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745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C7686"/>
                </a:solidFill>
                <a:latin typeface="Calibri"/>
              </a:rPr>
              <a:t>Consolidated Pvt Ltd · Talent Acquisition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57453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AA3B1"/>
                </a:solidFill>
                <a:latin typeface="Calibri"/>
              </a:rPr>
              <a:t>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