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0" y="0"/>
            <a:ext cx="4510735" cy="6858000"/>
          </a:xfrm>
          <a:prstGeom prst="rect">
            <a:avLst/>
          </a:prstGeom>
          <a:solidFill>
            <a:srgbClr val="0C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40080"/>
            <a:ext cx="1554480" cy="384048"/>
          </a:xfrm>
          <a:prstGeom prst="roundRect">
            <a:avLst>
              <a:gd name="adj" fmla="val 6000"/>
            </a:avLst>
          </a:prstGeom>
          <a:solidFill>
            <a:srgbClr val="102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554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FFFFF"/>
                </a:solidFill>
                <a:latin typeface="Calibri"/>
              </a:rPr>
              <a:t>Consolidated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65836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C7686"/>
                </a:solidFill>
                <a:latin typeface="Calibri"/>
              </a:rPr>
              <a:t>APPLE PARTNER RETAIL · OMNICHANNEL GROWTH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1783080"/>
            <a:ext cx="66751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0F1722"/>
                </a:solidFill>
                <a:latin typeface="Calibri"/>
              </a:rPr>
              <a:t>Building a scalable </a:t>
            </a:r>
            <a:r>
              <a:rPr sz="3800" b="1" i="0">
                <a:solidFill>
                  <a:srgbClr val="0B7D72"/>
                </a:solidFill>
                <a:latin typeface="Calibri"/>
              </a:rPr>
              <a:t>hiring system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0F1722"/>
                </a:solidFill>
                <a:latin typeface="Calibri"/>
              </a:rPr>
              <a:t>for the ₹5,000 Cr journey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6126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A4452"/>
                </a:solidFill>
                <a:latin typeface="Calibri"/>
              </a:rPr>
              <a:t>A practical Talent Acquisition strategy to hire faster, reduce attrition, and make hiring a key driver of business growth.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349240"/>
            <a:ext cx="6309360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449824"/>
            <a:ext cx="640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C7686"/>
                </a:solidFill>
                <a:latin typeface="Calibri"/>
              </a:rPr>
              <a:t>Prepared for CEO · CHRO · Business Heads   ·   Head – Talent Acquisition   ·   12–24 month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685800"/>
            <a:ext cx="3687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7C8B8"/>
                </a:solidFill>
                <a:latin typeface="Calibri"/>
              </a:rPr>
              <a:t>OUR GOALS AT A GLANCE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371600"/>
            <a:ext cx="3687775" cy="10972"/>
          </a:xfrm>
          <a:prstGeom prst="rect">
            <a:avLst/>
          </a:prstGeom>
          <a:solidFill>
            <a:srgbClr val="2A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536192"/>
            <a:ext cx="36877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₹3,000 → ₹5,000 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084832"/>
            <a:ext cx="3687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2C2"/>
                </a:solidFill>
                <a:latin typeface="Calibri"/>
              </a:rPr>
              <a:t>REVENUE TARGET, NEXT 12–24 MONTHS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2578608"/>
            <a:ext cx="3687775" cy="10972"/>
          </a:xfrm>
          <a:prstGeom prst="rect">
            <a:avLst/>
          </a:prstGeom>
          <a:solidFill>
            <a:srgbClr val="2A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743200"/>
            <a:ext cx="36877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~1,000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291840"/>
            <a:ext cx="3687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2C2"/>
                </a:solidFill>
                <a:latin typeface="Calibri"/>
              </a:rPr>
              <a:t>HIRES REQUIRED PER YEAR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3785616"/>
            <a:ext cx="3687775" cy="10972"/>
          </a:xfrm>
          <a:prstGeom prst="rect">
            <a:avLst/>
          </a:prstGeom>
          <a:solidFill>
            <a:srgbClr val="2A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3950208"/>
            <a:ext cx="36877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45% → below 25%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4498848"/>
            <a:ext cx="3687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2C2"/>
                </a:solidFill>
                <a:latin typeface="Calibri"/>
              </a:rPr>
              <a:t>REDUCE ATTRITION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4992624"/>
            <a:ext cx="3687775" cy="10972"/>
          </a:xfrm>
          <a:prstGeom prst="rect">
            <a:avLst/>
          </a:prstGeom>
          <a:solidFill>
            <a:srgbClr val="2A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5157216"/>
            <a:ext cx="36877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50+ → 30 days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5705856"/>
            <a:ext cx="3687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2C2"/>
                </a:solidFill>
                <a:latin typeface="Calibri"/>
              </a:rPr>
              <a:t>REDUCE TIME-TO-HIRE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547104"/>
            <a:ext cx="12191695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74536"/>
            <a:ext cx="7315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C7686"/>
                </a:solidFill>
                <a:latin typeface="Calibri"/>
              </a:rPr>
              <a:t>Consolidated Pvt Ltd · Talent Acquisition Strategy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05695" y="6574536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AA3B1"/>
                </a:solidFill>
                <a:latin typeface="Calibri"/>
              </a:rPr>
              <a:t>Cover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9488"/>
                </a:solidFill>
                <a:latin typeface="Calibri"/>
              </a:rPr>
              <a:t>OUR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48495" y="420624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F1722"/>
                </a:solidFill>
                <a:latin typeface="Calibri"/>
              </a:rPr>
              <a:t>01</a:t>
            </a:r>
            <a:r>
              <a:rPr sz="1300" b="0" i="0">
                <a:solidFill>
                  <a:srgbClr val="9AA3B1"/>
                </a:solidFill>
                <a:latin typeface="Calibri"/>
              </a:rPr>
              <a:t> 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11057839" cy="20116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841248"/>
            <a:ext cx="566928" cy="2011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2412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2"/>
                </a:solidFill>
                <a:latin typeface="Calibri"/>
              </a:rPr>
              <a:t>Moving from reactive hiring to a proactive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101800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3A4452"/>
                </a:solidFill>
                <a:latin typeface="Calibri"/>
              </a:rPr>
              <a:t>Currently we hire only after a role opens. We will shift to planning hiring ahead of demand — based on the store-expansion roadmap — and keep pre-screened candidates ready. The focus moves to hiring quality talent that stays, not simply filling roles quickly.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68880"/>
            <a:ext cx="2627299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468880"/>
            <a:ext cx="41148" cy="17830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51760"/>
            <a:ext cx="22615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F1722"/>
                </a:solidFill>
                <a:latin typeface="Calibri"/>
              </a:rPr>
              <a:t>⚡ Speed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127248"/>
            <a:ext cx="226153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452"/>
                </a:solidFill>
                <a:latin typeface="Calibri"/>
              </a:rPr>
              <a:t>Talent pipelines + AI + clear timelines, managed by TA Ops.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886200"/>
            <a:ext cx="22615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B7D72"/>
                </a:solidFill>
                <a:latin typeface="Calibri"/>
              </a:rPr>
              <a:t>Goal: hire within 30 days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7107" y="2468880"/>
            <a:ext cx="2627299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7107" y="2468880"/>
            <a:ext cx="41148" cy="17830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8275" y="2651760"/>
            <a:ext cx="22615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F1722"/>
                </a:solidFill>
                <a:latin typeface="Calibri"/>
              </a:rPr>
              <a:t>🎯 Quality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8275" y="3127248"/>
            <a:ext cx="226153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452"/>
                </a:solidFill>
                <a:latin typeface="Calibri"/>
              </a:rPr>
              <a:t>Structured interviews + an honest role preview.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8275" y="3886200"/>
            <a:ext cx="22615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B7D72"/>
                </a:solidFill>
                <a:latin typeface="Calibri"/>
              </a:rPr>
              <a:t>Goal: new hires staying past 90 days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2468880"/>
            <a:ext cx="2627299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7287" y="2468880"/>
            <a:ext cx="41148" cy="17830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8455" y="2651760"/>
            <a:ext cx="22615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F1722"/>
                </a:solidFill>
                <a:latin typeface="Calibri"/>
              </a:rPr>
              <a:t>⚙️ Cost-efficiency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8455" y="3127248"/>
            <a:ext cx="226153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452"/>
                </a:solidFill>
                <a:latin typeface="Calibri"/>
              </a:rPr>
              <a:t>More referrals, fewer agencies, AI support.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8455" y="3886200"/>
            <a:ext cx="22615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B7D72"/>
                </a:solidFill>
                <a:latin typeface="Calibri"/>
              </a:rPr>
              <a:t>Goal: cost per hire ₹4,500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97467" y="2468880"/>
            <a:ext cx="2627299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97467" y="2468880"/>
            <a:ext cx="41148" cy="178308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98635" y="2651760"/>
            <a:ext cx="22615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0F1722"/>
                </a:solidFill>
                <a:latin typeface="Calibri"/>
              </a:rPr>
              <a:t>✨ Employer brand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635" y="3127248"/>
            <a:ext cx="2261539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452"/>
                </a:solidFill>
                <a:latin typeface="Calibri"/>
              </a:rPr>
              <a:t>A consistent social presence + the Apple brand advantage.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635" y="3886200"/>
            <a:ext cx="22615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0B7D72"/>
                </a:solidFill>
                <a:latin typeface="Calibri"/>
              </a:rPr>
              <a:t>Goal: higher offer acceptance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663440"/>
            <a:ext cx="11057839" cy="566928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663440"/>
            <a:ext cx="4572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" y="4718303"/>
            <a:ext cx="1063721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3A4452"/>
                </a:solidFill>
                <a:latin typeface="Calibri"/>
              </a:rPr>
              <a:t>Four focus areas, each with a clear owner and a single metric — keeping the plan simple and accountable.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574536"/>
            <a:ext cx="7315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C7686"/>
                </a:solidFill>
                <a:latin typeface="Calibri"/>
              </a:rPr>
              <a:t>Consolidated Pvt Ltd · Talent Acquisition Strategy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05695" y="6574536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AA3B1"/>
                </a:solidFill>
                <a:latin typeface="Calibri"/>
              </a:rPr>
              <a:t>01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9488"/>
                </a:solidFill>
                <a:latin typeface="Calibri"/>
              </a:rPr>
              <a:t>FIRST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48495" y="420624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F1722"/>
                </a:solidFill>
                <a:latin typeface="Calibri"/>
              </a:rPr>
              <a:t>02</a:t>
            </a:r>
            <a:r>
              <a:rPr sz="1300" b="0" i="0">
                <a:solidFill>
                  <a:srgbClr val="9AA3B1"/>
                </a:solidFill>
                <a:latin typeface="Calibri"/>
              </a:rPr>
              <a:t> 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11057839" cy="20116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841248"/>
            <a:ext cx="566928" cy="2011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2412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2"/>
                </a:solidFill>
                <a:latin typeface="Calibri"/>
              </a:rPr>
              <a:t>The first 90 days — a phased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101800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3A4452"/>
                </a:solidFill>
                <a:latin typeface="Calibri"/>
              </a:rPr>
              <a:t>Sequenced deliberately — a broken process cannot be scaled. First fix the basics, then build the system, then demonstrate results. Early wins build confidence for the larger changes.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377440"/>
            <a:ext cx="3533546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8096" y="2578608"/>
            <a:ext cx="1417320" cy="365760"/>
          </a:xfrm>
          <a:prstGeom prst="roundRect">
            <a:avLst>
              <a:gd name="adj" fmla="val 6000"/>
            </a:avLst>
          </a:prstGeom>
          <a:solidFill>
            <a:srgbClr val="0C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578608"/>
            <a:ext cx="1417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Days 0–30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0672"/>
            <a:ext cx="31312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F1722"/>
                </a:solidFill>
                <a:latin typeface="Calibri"/>
              </a:rPr>
              <a:t>Assess &amp; Stabilise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566160"/>
            <a:ext cx="313121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Review open roles, time taken at each stage, sources of hire, and attrition by store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Move all hiring onto a single applicant tracking system (ATS)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Dedicated team for the 100 new-store roles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Relaunch the employee referral programme with prompt payouts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9074" y="2377440"/>
            <a:ext cx="3533546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30242" y="2578608"/>
            <a:ext cx="1417320" cy="365760"/>
          </a:xfrm>
          <a:prstGeom prst="roundRect">
            <a:avLst>
              <a:gd name="adj" fmla="val 6000"/>
            </a:avLst>
          </a:prstGeom>
          <a:solidFill>
            <a:srgbClr val="0C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0242" y="2578608"/>
            <a:ext cx="1417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Days 31–60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0242" y="3090672"/>
            <a:ext cx="31312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F1722"/>
                </a:solidFill>
                <a:latin typeface="Calibri"/>
              </a:rPr>
              <a:t>Build the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0242" y="3566160"/>
            <a:ext cx="313121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Standardised interview kits + culture-fit scorecards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Maintain pre-screened talent pipelines for high-volume roles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Redesign onboarding: ready from Day 1, with 30/60/90-day check-ins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Introduce AI screening + chatbot; reduce agency dependence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1220" y="2377440"/>
            <a:ext cx="3533546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92388" y="2578608"/>
            <a:ext cx="1417320" cy="365760"/>
          </a:xfrm>
          <a:prstGeom prst="roundRect">
            <a:avLst>
              <a:gd name="adj" fmla="val 6000"/>
            </a:avLst>
          </a:prstGeom>
          <a:solidFill>
            <a:srgbClr val="0C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2388" y="2578608"/>
            <a:ext cx="1417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Days 61–90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2388" y="3090672"/>
            <a:ext cx="31312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0F1722"/>
                </a:solidFill>
                <a:latin typeface="Calibri"/>
              </a:rPr>
              <a:t>Demonstrate Results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2388" y="3566160"/>
            <a:ext cx="313121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Early wins: time-to-hire ~40 days; fewer offer declines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Launch employer-branding content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Go live with a real-time hiring dashboard for leadership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0D9488"/>
                </a:solidFill>
                <a:latin typeface="Calibri"/>
              </a:rPr>
              <a:t>• </a:t>
            </a:r>
            <a:r>
              <a:rPr sz="1150">
                <a:solidFill>
                  <a:srgbClr val="3A4452"/>
                </a:solidFill>
                <a:latin typeface="Calibri"/>
              </a:rPr>
              <a:t>Present the full 12-month roadmap to leadership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547104"/>
            <a:ext cx="12191695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74536"/>
            <a:ext cx="7315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C7686"/>
                </a:solidFill>
                <a:latin typeface="Calibri"/>
              </a:rPr>
              <a:t>Consolidated Pvt Ltd · Talent Acquisition Strategy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05695" y="6574536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AA3B1"/>
                </a:solidFill>
                <a:latin typeface="Calibri"/>
              </a:rPr>
              <a:t>02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9488"/>
                </a:solidFill>
                <a:latin typeface="Calibri"/>
              </a:rPr>
              <a:t>12-MONTH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48495" y="420624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F1722"/>
                </a:solidFill>
                <a:latin typeface="Calibri"/>
              </a:rPr>
              <a:t>03</a:t>
            </a:r>
            <a:r>
              <a:rPr sz="1300" b="0" i="0">
                <a:solidFill>
                  <a:srgbClr val="9AA3B1"/>
                </a:solidFill>
                <a:latin typeface="Calibri"/>
              </a:rPr>
              <a:t> 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11057839" cy="20116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841248"/>
            <a:ext cx="566928" cy="2011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2412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2"/>
                </a:solidFill>
                <a:latin typeface="Calibri"/>
              </a:rPr>
              <a:t>The 12-month roadmap, in four quarters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101800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3A4452"/>
                </a:solidFill>
                <a:latin typeface="Calibri"/>
              </a:rPr>
              <a:t>Each quarter builds on the previous one. We complete a quarter's foundation (its gate) before moving to the next.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377440"/>
            <a:ext cx="2627299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8" y="2578608"/>
            <a:ext cx="676656" cy="365760"/>
          </a:xfrm>
          <a:prstGeom prst="roundRect">
            <a:avLst>
              <a:gd name="adj" fmla="val 6000"/>
            </a:avLst>
          </a:prstGeom>
          <a:solidFill>
            <a:srgbClr val="0C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578608"/>
            <a:ext cx="676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090672"/>
            <a:ext cx="22615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F1722"/>
                </a:solidFill>
                <a:latin typeface="Calibri"/>
              </a:rPr>
              <a:t>Foundation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547872"/>
            <a:ext cx="2261539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ATS fully adopted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Standardised interviews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Referral programme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Onboarding v2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4919472"/>
            <a:ext cx="2261539" cy="36576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919472"/>
            <a:ext cx="217009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B7D72"/>
                </a:solidFill>
                <a:latin typeface="Calibri"/>
              </a:rPr>
              <a:t>Gate: ATS adoption &gt;90%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77107" y="2377440"/>
            <a:ext cx="2627299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59987" y="2578608"/>
            <a:ext cx="676656" cy="365760"/>
          </a:xfrm>
          <a:prstGeom prst="roundRect">
            <a:avLst>
              <a:gd name="adj" fmla="val 6000"/>
            </a:avLst>
          </a:prstGeom>
          <a:solidFill>
            <a:srgbClr val="0C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59987" y="2578608"/>
            <a:ext cx="676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3090672"/>
            <a:ext cx="22615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F1722"/>
                </a:solidFill>
                <a:latin typeface="Calibri"/>
              </a:rPr>
              <a:t>Speed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547872"/>
            <a:ext cx="2261539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AI screening at scale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Pipelines for top 5 roles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Stage-wise timelines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9987" y="4919472"/>
            <a:ext cx="2261539" cy="36576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33139" y="4919472"/>
            <a:ext cx="217009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B7D72"/>
                </a:solidFill>
                <a:latin typeface="Calibri"/>
              </a:rPr>
              <a:t>Gate: time-to-hire ≤35 days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7287" y="2377440"/>
            <a:ext cx="2627299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70167" y="2578608"/>
            <a:ext cx="676656" cy="365760"/>
          </a:xfrm>
          <a:prstGeom prst="roundRect">
            <a:avLst>
              <a:gd name="adj" fmla="val 6000"/>
            </a:avLst>
          </a:prstGeom>
          <a:solidFill>
            <a:srgbClr val="0C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0167" y="2578608"/>
            <a:ext cx="676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Q3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3090672"/>
            <a:ext cx="22615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F1722"/>
                </a:solidFill>
                <a:latin typeface="Calibri"/>
              </a:rPr>
              <a:t>Quality &amp; Brand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3547872"/>
            <a:ext cx="2261539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Employer-branding push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Leadership-hiring playbook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Career paths live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70167" y="4919472"/>
            <a:ext cx="2261539" cy="36576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3319" y="4919472"/>
            <a:ext cx="217009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B7D72"/>
                </a:solidFill>
                <a:latin typeface="Calibri"/>
              </a:rPr>
              <a:t>Gate: attrition &lt;35%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97467" y="2377440"/>
            <a:ext cx="2627299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180347" y="2578608"/>
            <a:ext cx="676656" cy="365760"/>
          </a:xfrm>
          <a:prstGeom prst="roundRect">
            <a:avLst>
              <a:gd name="adj" fmla="val 6000"/>
            </a:avLst>
          </a:prstGeom>
          <a:solidFill>
            <a:srgbClr val="0C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0347" y="2578608"/>
            <a:ext cx="67665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Q4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0347" y="3090672"/>
            <a:ext cx="22615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F1722"/>
                </a:solidFill>
                <a:latin typeface="Calibri"/>
              </a:rPr>
              <a:t>Optimise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0347" y="3547872"/>
            <a:ext cx="2261539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Reduce cost &amp; agencies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0D9488"/>
                </a:solidFill>
                <a:latin typeface="Calibri"/>
              </a:rPr>
              <a:t>• </a:t>
            </a:r>
            <a:r>
              <a:rPr sz="1100">
                <a:solidFill>
                  <a:srgbClr val="6C7686"/>
                </a:solidFill>
                <a:latin typeface="Calibri"/>
              </a:rPr>
              <a:t>Plan hiring in advance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80347" y="4919472"/>
            <a:ext cx="2261539" cy="36576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53499" y="4919472"/>
            <a:ext cx="2170099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B7D72"/>
                </a:solidFill>
                <a:latin typeface="Calibri"/>
              </a:rPr>
              <a:t>Gate: 30 days · ₹4,500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574536"/>
            <a:ext cx="7315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C7686"/>
                </a:solidFill>
                <a:latin typeface="Calibri"/>
              </a:rPr>
              <a:t>Consolidated Pvt Ltd · Talent Acquisition Strategy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05695" y="6574536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AA3B1"/>
                </a:solidFill>
                <a:latin typeface="Calibri"/>
              </a:rPr>
              <a:t>03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9488"/>
                </a:solidFill>
                <a:latin typeface="Calibri"/>
              </a:rPr>
              <a:t>TEAM &amp;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48495" y="420624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F1722"/>
                </a:solidFill>
                <a:latin typeface="Calibri"/>
              </a:rPr>
              <a:t>04</a:t>
            </a:r>
            <a:r>
              <a:rPr sz="1300" b="0" i="0">
                <a:solidFill>
                  <a:srgbClr val="9AA3B1"/>
                </a:solidFill>
                <a:latin typeface="Calibri"/>
              </a:rPr>
              <a:t> 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11057839" cy="20116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841248"/>
            <a:ext cx="566928" cy="2011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2412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2"/>
                </a:solidFill>
                <a:latin typeface="Calibri"/>
              </a:rPr>
              <a:t>A team built to hire 1,000+ people a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101800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3A4452"/>
                </a:solidFill>
                <a:latin typeface="Calibri"/>
              </a:rPr>
              <a:t>A central team owning tools, data and standards, supported by recruiters embedded within each business for speed and closeness. ~13–15 people in total.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15687" y="2286000"/>
            <a:ext cx="2560320" cy="502920"/>
          </a:xfrm>
          <a:prstGeom prst="roundRect">
            <a:avLst>
              <a:gd name="adj" fmla="val 6000"/>
            </a:avLst>
          </a:prstGeom>
          <a:solidFill>
            <a:srgbClr val="0C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15687" y="2286000"/>
            <a:ext cx="25603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Head – Talent Acquisition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6703" y="2788920"/>
            <a:ext cx="18288" cy="274320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200400"/>
            <a:ext cx="2065263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3200400"/>
            <a:ext cx="2065263" cy="457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3383280"/>
            <a:ext cx="1845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F1722"/>
                </a:solidFill>
                <a:latin typeface="Calibri"/>
              </a:rPr>
              <a:t>Volume / Retail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3858768"/>
            <a:ext cx="1845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C7686"/>
                </a:solidFill>
                <a:latin typeface="Calibri"/>
              </a:rPr>
              <a:t>Store &amp; service hiring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6639" y="4251960"/>
            <a:ext cx="1005840" cy="27432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6639" y="425196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B7D72"/>
                </a:solidFill>
                <a:latin typeface="Calibri"/>
              </a:rPr>
              <a:t>~820 / yr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15071" y="3200400"/>
            <a:ext cx="2065263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15071" y="3200400"/>
            <a:ext cx="2065263" cy="457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4799" y="3383280"/>
            <a:ext cx="1845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F1722"/>
                </a:solidFill>
                <a:latin typeface="Calibri"/>
              </a:rPr>
              <a:t>Corporate &amp; Enterprise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4799" y="3858768"/>
            <a:ext cx="1845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C7686"/>
                </a:solidFill>
                <a:latin typeface="Calibri"/>
              </a:rPr>
              <a:t>B2B · Education · Corporate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44783" y="4251960"/>
            <a:ext cx="1005840" cy="27432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44783" y="425196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B7D72"/>
                </a:solidFill>
                <a:latin typeface="Calibri"/>
              </a:rPr>
              <a:t>~160 / yr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63215" y="3200400"/>
            <a:ext cx="2065263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63215" y="3200400"/>
            <a:ext cx="2065263" cy="457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72943" y="3383280"/>
            <a:ext cx="1845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F1722"/>
                </a:solidFill>
                <a:latin typeface="Calibri"/>
              </a:rPr>
              <a:t>Leadership &amp; Niche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72943" y="3858768"/>
            <a:ext cx="1845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C7686"/>
                </a:solidFill>
                <a:latin typeface="Calibri"/>
              </a:rPr>
              <a:t>Senior hiring, handled in-house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92927" y="4251960"/>
            <a:ext cx="1005840" cy="27432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92927" y="425196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B7D72"/>
                </a:solidFill>
                <a:latin typeface="Calibri"/>
              </a:rPr>
              <a:t>steady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1359" y="3200400"/>
            <a:ext cx="2065263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1359" y="3200400"/>
            <a:ext cx="2065263" cy="457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1087" y="3383280"/>
            <a:ext cx="1845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F1722"/>
                </a:solidFill>
                <a:latin typeface="Calibri"/>
              </a:rPr>
              <a:t>TA Ops &amp; Analytics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21087" y="3858768"/>
            <a:ext cx="1845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C7686"/>
                </a:solidFill>
                <a:latin typeface="Calibri"/>
              </a:rPr>
              <a:t>Systems · AI · dashboards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41071" y="4251960"/>
            <a:ext cx="1005840" cy="27432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41071" y="425196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B7D72"/>
                </a:solidFill>
                <a:latin typeface="Calibri"/>
              </a:rPr>
              <a:t>support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59503" y="3200400"/>
            <a:ext cx="2065263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59503" y="3200400"/>
            <a:ext cx="2065263" cy="457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69231" y="3383280"/>
            <a:ext cx="1845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F1722"/>
                </a:solidFill>
                <a:latin typeface="Calibri"/>
              </a:rPr>
              <a:t>Employer Brand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69231" y="3858768"/>
            <a:ext cx="184580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6C7686"/>
                </a:solidFill>
                <a:latin typeface="Calibri"/>
              </a:rPr>
              <a:t>Ongoing talent sourcing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89215" y="4251960"/>
            <a:ext cx="1005840" cy="27432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89215" y="4251960"/>
            <a:ext cx="10058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B7D72"/>
                </a:solidFill>
                <a:latin typeface="Calibri"/>
              </a:rPr>
              <a:t>pipeline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029200"/>
            <a:ext cx="11057839" cy="566928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" y="5029200"/>
            <a:ext cx="4572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6384" y="5084064"/>
            <a:ext cx="1063721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F1722"/>
                </a:solidFill>
                <a:latin typeface="Calibri"/>
              </a:rPr>
              <a:t>Team sizing: </a:t>
            </a:r>
            <a:r>
              <a:rPr sz="1250" b="0" i="0">
                <a:solidFill>
                  <a:srgbClr val="3A4452"/>
                </a:solidFill>
                <a:latin typeface="Calibri"/>
              </a:rPr>
              <a:t>a volume recruiter handles ~120–150 hires/year and a corporate recruiter ~40–60 → roughly 6–7 recruiters, 3–4 sourcers, 1 analytics lead, 1 branding lead and 4 team leads. Recruiters shift from processing applications to sourcing, using data and partnering with managers.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6574536"/>
            <a:ext cx="7315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C7686"/>
                </a:solidFill>
                <a:latin typeface="Calibri"/>
              </a:rPr>
              <a:t>Consolidated Pvt Ltd · Talent Acquisition Strategy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05695" y="6574536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AA3B1"/>
                </a:solidFill>
                <a:latin typeface="Calibri"/>
              </a:rPr>
              <a:t>04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9488"/>
                </a:solidFill>
                <a:latin typeface="Calibri"/>
              </a:rPr>
              <a:t>FASTER HIRING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48495" y="420624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F1722"/>
                </a:solidFill>
                <a:latin typeface="Calibri"/>
              </a:rPr>
              <a:t>05</a:t>
            </a:r>
            <a:r>
              <a:rPr sz="1300" b="0" i="0">
                <a:solidFill>
                  <a:srgbClr val="9AA3B1"/>
                </a:solidFill>
                <a:latin typeface="Calibri"/>
              </a:rPr>
              <a:t> 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11057839" cy="20116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841248"/>
            <a:ext cx="566928" cy="2011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2412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2"/>
                </a:solidFill>
                <a:latin typeface="Calibri"/>
              </a:rPr>
              <a:t>Reducing time-to-hire from 50+ to 30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101800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3A4452"/>
                </a:solidFill>
                <a:latin typeface="Calibri"/>
              </a:rPr>
              <a:t>Hiring is slow because we start from scratch for every role and wait too long for manager feedback. The fix: keep candidates ready and run the stages in parallel, with clear timelines.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A4452"/>
                </a:solidFill>
                <a:latin typeface="Calibri"/>
              </a:rPr>
              <a:t>Today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58568" y="2624328"/>
            <a:ext cx="3703320" cy="274320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9525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58568" y="2624328"/>
            <a:ext cx="3703320" cy="274320"/>
          </a:xfrm>
          <a:prstGeom prst="roundRect">
            <a:avLst>
              <a:gd name="adj" fmla="val 6000"/>
            </a:avLst>
          </a:prstGeom>
          <a:solidFill>
            <a:srgbClr val="D6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2624328"/>
            <a:ext cx="359359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50+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108960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A4452"/>
                </a:solidFill>
                <a:latin typeface="Calibri"/>
              </a:rPr>
              <a:t>With pipelines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58568" y="3127248"/>
            <a:ext cx="3703320" cy="274320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9525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258568" y="3127248"/>
            <a:ext cx="2666390" cy="274320"/>
          </a:xfrm>
          <a:prstGeom prst="roundRect">
            <a:avLst>
              <a:gd name="adj" fmla="val 6000"/>
            </a:avLst>
          </a:prstGeom>
          <a:solidFill>
            <a:srgbClr val="C27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58568" y="3127248"/>
            <a:ext cx="255666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~36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611880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A4452"/>
                </a:solidFill>
                <a:latin typeface="Calibr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58568" y="3630168"/>
            <a:ext cx="3703320" cy="274320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9525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258568" y="3630168"/>
            <a:ext cx="2147925" cy="27432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58568" y="3630168"/>
            <a:ext cx="2038197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30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14800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A4452"/>
                </a:solidFill>
                <a:latin typeface="Calibri"/>
              </a:rPr>
              <a:t>Store roles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58568" y="4133087"/>
            <a:ext cx="3703320" cy="274320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9525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258568" y="4133087"/>
            <a:ext cx="1407261" cy="274320"/>
          </a:xfrm>
          <a:prstGeom prst="roundRect">
            <a:avLst>
              <a:gd name="adj" fmla="val 6000"/>
            </a:avLst>
          </a:prstGeom>
          <a:solidFill>
            <a:srgbClr val="0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58568" y="4133087"/>
            <a:ext cx="1297533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20 days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663440"/>
            <a:ext cx="5394960" cy="566928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663440"/>
            <a:ext cx="4572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4718303"/>
            <a:ext cx="497433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F1722"/>
                </a:solidFill>
                <a:latin typeface="Calibri"/>
              </a:rPr>
              <a:t>For reference: </a:t>
            </a:r>
            <a:r>
              <a:rPr sz="1250" b="0" i="0">
                <a:solidFill>
                  <a:srgbClr val="3A4452"/>
                </a:solidFill>
                <a:latin typeface="Calibri"/>
              </a:rPr>
              <a:t>Chipotle hires in ~4 days at ~10,000 hires/year — so a 30-day target is well within reach.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468880"/>
            <a:ext cx="5315407" cy="310896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 w="12700">
            <a:solidFill>
              <a:srgbClr val="BF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2651760"/>
            <a:ext cx="4876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B7D72"/>
                </a:solidFill>
                <a:latin typeface="Calibri"/>
              </a:rPr>
              <a:t>🎯  HOW WE ACCELERATE HIRING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3035808"/>
            <a:ext cx="4876495" cy="2432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Use pre-screened pipelines — </a:t>
            </a:r>
            <a:r>
              <a:rPr sz="1200">
                <a:solidFill>
                  <a:srgbClr val="3A4452"/>
                </a:solidFill>
                <a:latin typeface="Calibri"/>
              </a:rPr>
              <a:t>high-volume roles fill in days, not weeks.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Run stages in parallel — </a:t>
            </a:r>
            <a:r>
              <a:rPr sz="1200">
                <a:solidFill>
                  <a:srgbClr val="3A4452"/>
                </a:solidFill>
                <a:latin typeface="Calibri"/>
              </a:rPr>
              <a:t>screening, interview &amp; scheduling together; AI screens 24×7.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Set stage timelines — </a:t>
            </a:r>
            <a:r>
              <a:rPr sz="1200">
                <a:solidFill>
                  <a:srgbClr val="3A4452"/>
                </a:solidFill>
                <a:latin typeface="Calibri"/>
              </a:rPr>
              <a:t>manager feedback in 2 days, offer within 5 days.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Instant scheduling </a:t>
            </a:r>
            <a:r>
              <a:rPr sz="1200">
                <a:solidFill>
                  <a:srgbClr val="3A4452"/>
                </a:solidFill>
                <a:latin typeface="Calibri"/>
              </a:rPr>
              <a:t>via chatbot for store roles; ready panel for leadership.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Reduce offer declines 28% → under 12% </a:t>
            </a:r>
            <a:r>
              <a:rPr sz="1200">
                <a:solidFill>
                  <a:srgbClr val="3A4452"/>
                </a:solidFill>
                <a:latin typeface="Calibri"/>
              </a:rPr>
              <a:t>with a quicker process &amp; clear compensation.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574536"/>
            <a:ext cx="7315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C7686"/>
                </a:solidFill>
                <a:latin typeface="Calibri"/>
              </a:rPr>
              <a:t>Consolidated Pvt Ltd · Talent Acquisition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05695" y="6574536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AA3B1"/>
                </a:solidFill>
                <a:latin typeface="Calibri"/>
              </a:rPr>
              <a:t>05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9488"/>
                </a:solidFill>
                <a:latin typeface="Calibri"/>
              </a:rPr>
              <a:t>REDUCING ATTRITION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48495" y="420624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F1722"/>
                </a:solidFill>
                <a:latin typeface="Calibri"/>
              </a:rPr>
              <a:t>06</a:t>
            </a:r>
            <a:r>
              <a:rPr sz="1300" b="0" i="0">
                <a:solidFill>
                  <a:srgbClr val="9AA3B1"/>
                </a:solidFill>
                <a:latin typeface="Calibri"/>
              </a:rPr>
              <a:t> 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11057839" cy="20116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841248"/>
            <a:ext cx="566928" cy="2011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2412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2"/>
                </a:solidFill>
                <a:latin typeface="Calibri"/>
              </a:rPr>
              <a:t>Reducing attrition from 45% to below 25%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101800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3A4452"/>
                </a:solidFill>
                <a:latin typeface="Calibri"/>
              </a:rPr>
              <a:t>Most exits happen in the first three months — about 20% within 45 days, and around 70% of all exits within 90 days. So we must strengthen hiring, onboarding and early support. Retention begins on the day of hire.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A4452"/>
                </a:solidFill>
                <a:latin typeface="Calibri"/>
              </a:rPr>
              <a:t>Today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58568" y="2578608"/>
            <a:ext cx="3703320" cy="274320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9525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58568" y="2578608"/>
            <a:ext cx="3703320" cy="274320"/>
          </a:xfrm>
          <a:prstGeom prst="roundRect">
            <a:avLst>
              <a:gd name="adj" fmla="val 6000"/>
            </a:avLst>
          </a:prstGeom>
          <a:solidFill>
            <a:srgbClr val="D6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2578608"/>
            <a:ext cx="359359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063239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A4452"/>
                </a:solidFill>
                <a:latin typeface="Calibri"/>
              </a:rPr>
              <a:t>In 12 months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58568" y="3081527"/>
            <a:ext cx="3703320" cy="274320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9525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258568" y="3081527"/>
            <a:ext cx="2888589" cy="274320"/>
          </a:xfrm>
          <a:prstGeom prst="roundRect">
            <a:avLst>
              <a:gd name="adj" fmla="val 6000"/>
            </a:avLst>
          </a:prstGeom>
          <a:solidFill>
            <a:srgbClr val="C27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58568" y="3081527"/>
            <a:ext cx="2778861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~35%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15544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A4452"/>
                </a:solidFill>
                <a:latin typeface="Calibri"/>
              </a:rPr>
              <a:t>In 24 months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58568" y="3584448"/>
            <a:ext cx="3703320" cy="274320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9525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258568" y="3584448"/>
            <a:ext cx="2036826" cy="274320"/>
          </a:xfrm>
          <a:prstGeom prst="roundRect">
            <a:avLst>
              <a:gd name="adj" fmla="val 6000"/>
            </a:avLst>
          </a:prstGeom>
          <a:solidFill>
            <a:srgbClr val="0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58568" y="3584448"/>
            <a:ext cx="192709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below 25%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160520"/>
            <a:ext cx="168859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160520"/>
            <a:ext cx="41148" cy="914400"/>
          </a:xfrm>
          <a:prstGeom prst="rect">
            <a:avLst/>
          </a:prstGeom>
          <a:solidFill>
            <a:srgbClr val="D6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306824"/>
            <a:ext cx="13776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D6453A"/>
                </a:solidFill>
                <a:latin typeface="Calibri"/>
              </a:rPr>
              <a:t>20%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6"/>
                </a:solidFill>
                <a:latin typeface="Calibri"/>
              </a:rPr>
              <a:t>exit within 45 days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20112" y="4160520"/>
            <a:ext cx="168859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20112" y="4160520"/>
            <a:ext cx="41148" cy="914400"/>
          </a:xfrm>
          <a:prstGeom prst="rect">
            <a:avLst/>
          </a:prstGeom>
          <a:solidFill>
            <a:srgbClr val="D64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21280" y="4306824"/>
            <a:ext cx="13776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D6453A"/>
                </a:solidFill>
                <a:latin typeface="Calibri"/>
              </a:rPr>
              <a:t>70%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6"/>
                </a:solidFill>
                <a:latin typeface="Calibri"/>
              </a:rPr>
              <a:t>of exits occur by 90 days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3296" y="4160520"/>
            <a:ext cx="168859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3296" y="4160520"/>
            <a:ext cx="41148" cy="914400"/>
          </a:xfrm>
          <a:prstGeom prst="rect">
            <a:avLst/>
          </a:prstGeom>
          <a:solidFill>
            <a:srgbClr val="0A8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4464" y="4306824"/>
            <a:ext cx="137769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A8F5F"/>
                </a:solidFill>
                <a:latin typeface="Calibri"/>
              </a:rPr>
              <a:t>69%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C7686"/>
                </a:solidFill>
                <a:latin typeface="Calibri"/>
              </a:rPr>
              <a:t>stay 3+ yrs with strong onboarding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2468880"/>
            <a:ext cx="5315407" cy="315468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 w="12700">
            <a:solidFill>
              <a:srgbClr val="BF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28816" y="2651760"/>
            <a:ext cx="4876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B7D72"/>
                </a:solidFill>
                <a:latin typeface="Calibri"/>
              </a:rPr>
              <a:t>🎯  OUR THREE-PART APPROACH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28816" y="3035808"/>
            <a:ext cx="4876495" cy="2478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A · Hire right — </a:t>
            </a:r>
            <a:r>
              <a:rPr sz="1200">
                <a:solidFill>
                  <a:srgbClr val="3A4452"/>
                </a:solidFill>
                <a:latin typeface="Calibri"/>
              </a:rPr>
              <a:t>assess culture fit, give an honest role preview, raise referrals to 40%+.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B · Onboard well — </a:t>
            </a:r>
            <a:r>
              <a:rPr sz="1200">
                <a:solidFill>
                  <a:srgbClr val="3A4452"/>
                </a:solidFill>
                <a:latin typeface="Calibri"/>
              </a:rPr>
              <a:t>ready Day 1, assign a buddy, review at 30/60/90 days.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C · Retain — </a:t>
            </a:r>
            <a:r>
              <a:rPr sz="1200">
                <a:solidFill>
                  <a:srgbClr val="3A4452"/>
                </a:solidFill>
                <a:latin typeface="Calibri"/>
              </a:rPr>
              <a:t>clear growth path + early warning signals when someone may leave.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Prioritise </a:t>
            </a:r>
            <a:r>
              <a:rPr sz="1200">
                <a:solidFill>
                  <a:srgbClr val="3A4452"/>
                </a:solidFill>
                <a:latin typeface="Calibri"/>
              </a:rPr>
              <a:t>store staff (55%+) and the 11-month tenure issue first.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574536"/>
            <a:ext cx="7315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C7686"/>
                </a:solidFill>
                <a:latin typeface="Calibri"/>
              </a:rPr>
              <a:t>Consolidated Pvt Ltd · Talent Acquisition Strategy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05695" y="6574536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AA3B1"/>
                </a:solidFill>
                <a:latin typeface="Calibri"/>
              </a:rPr>
              <a:t>06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9488"/>
                </a:solidFill>
                <a:latin typeface="Calibri"/>
              </a:rPr>
              <a:t>TECHNOLOGY &amp;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48495" y="420624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F1722"/>
                </a:solidFill>
                <a:latin typeface="Calibri"/>
              </a:rPr>
              <a:t>07</a:t>
            </a:r>
            <a:r>
              <a:rPr sz="1300" b="0" i="0">
                <a:solidFill>
                  <a:srgbClr val="9AA3B1"/>
                </a:solidFill>
                <a:latin typeface="Calibri"/>
              </a:rPr>
              <a:t> 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11057839" cy="20116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841248"/>
            <a:ext cx="566928" cy="2011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2412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2"/>
                </a:solidFill>
                <a:latin typeface="Calibri"/>
              </a:rPr>
              <a:t>AI drives speed — and reduces cost by half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55648"/>
            <a:ext cx="101800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3A4452"/>
                </a:solidFill>
                <a:latin typeface="Calibri"/>
              </a:rPr>
              <a:t>AI handles the repetitive work — sourcing, screening, scheduling and candidate queries — that currently consumes recruiter time and agency fees. Cost falls mainly through more referrals, fewer agencies, and fewer re-hires.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423160"/>
            <a:ext cx="5414619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606040"/>
            <a:ext cx="49757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F1722"/>
                </a:solidFill>
                <a:latin typeface="Calibri"/>
              </a:rPr>
              <a:t>🤖  TECHNOLOGY STACK — PHASED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990088"/>
            <a:ext cx="4975707" cy="17922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D9488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Phase 1 — </a:t>
            </a:r>
            <a:r>
              <a:rPr sz="1200">
                <a:solidFill>
                  <a:srgbClr val="3A4452"/>
                </a:solidFill>
                <a:latin typeface="Calibri"/>
              </a:rPr>
              <a:t>full ATS + live dashboards (the data foundation).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D9488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Phase 2 — </a:t>
            </a:r>
            <a:r>
              <a:rPr sz="1200">
                <a:solidFill>
                  <a:srgbClr val="3A4452"/>
                </a:solidFill>
                <a:latin typeface="Calibri"/>
              </a:rPr>
              <a:t>AI screening + a WhatsApp/chat assistant for high-volume roles.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D9488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Phase 3 — </a:t>
            </a:r>
            <a:r>
              <a:rPr sz="1200">
                <a:solidFill>
                  <a:srgbClr val="3A4452"/>
                </a:solidFill>
                <a:latin typeface="Calibri"/>
              </a:rPr>
              <a:t>AI sourcing + early attrition warning signals.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D9488"/>
                </a:solidFill>
                <a:latin typeface="Calibri"/>
              </a:rPr>
              <a:t>• </a:t>
            </a:r>
            <a:r>
              <a:rPr sz="1200">
                <a:solidFill>
                  <a:srgbClr val="3A4452"/>
                </a:solidFill>
                <a:latin typeface="Calibri"/>
              </a:rPr>
              <a:t>Plus job advertising across social media.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423160"/>
            <a:ext cx="5414619" cy="2468880"/>
          </a:xfrm>
          <a:prstGeom prst="roundRect">
            <a:avLst>
              <a:gd name="adj" fmla="val 6000"/>
            </a:avLst>
          </a:prstGeom>
          <a:solidFill>
            <a:srgbClr val="E0F1EF"/>
          </a:solidFill>
          <a:ln w="12700">
            <a:solidFill>
              <a:srgbClr val="BF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9603" y="2606040"/>
            <a:ext cx="497570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B7D72"/>
                </a:solidFill>
                <a:latin typeface="Calibri"/>
              </a:rPr>
              <a:t>💰  COST: ₹9,000 → ₹4,500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9603" y="2990088"/>
            <a:ext cx="4975707" cy="17922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Referrals 20% → 40%+ — </a:t>
            </a:r>
            <a:r>
              <a:rPr sz="1200">
                <a:solidFill>
                  <a:srgbClr val="3A4452"/>
                </a:solidFill>
                <a:latin typeface="Calibri"/>
              </a:rPr>
              <a:t>the lowest-cost channel, with better retention.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Agencies 9–10% → under 4% — </a:t>
            </a:r>
            <a:r>
              <a:rPr sz="1200">
                <a:solidFill>
                  <a:srgbClr val="3A4452"/>
                </a:solidFill>
                <a:latin typeface="Calibri"/>
              </a:rPr>
              <a:t>bring sourcing &amp; leadership hiring in-house.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AI automation — </a:t>
            </a:r>
            <a:r>
              <a:rPr sz="1200">
                <a:solidFill>
                  <a:srgbClr val="3A4452"/>
                </a:solidFill>
                <a:latin typeface="Calibri"/>
              </a:rPr>
              <a:t>lower cost per candidate at high volume.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0B7D72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Lower attrition — </a:t>
            </a:r>
            <a:r>
              <a:rPr sz="1200">
                <a:solidFill>
                  <a:srgbClr val="3A4452"/>
                </a:solidFill>
                <a:latin typeface="Calibri"/>
              </a:rPr>
              <a:t>each avoided replacement saves a full hiring cost + training time.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074920"/>
            <a:ext cx="11057839" cy="566928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074920"/>
            <a:ext cx="4572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5129783"/>
            <a:ext cx="1063721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F1722"/>
                </a:solidFill>
                <a:latin typeface="Calibri"/>
              </a:rPr>
              <a:t>A positive cycle: </a:t>
            </a:r>
            <a:r>
              <a:rPr sz="1250" b="0" i="0">
                <a:solidFill>
                  <a:srgbClr val="3A4452"/>
                </a:solidFill>
                <a:latin typeface="Calibri"/>
              </a:rPr>
              <a:t>referrals stay longer → attrition falls → fewer re-hires → recruiters focus on growth rather than replacement → agency budget shifts to lower-cost, higher-quality channels.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74536"/>
            <a:ext cx="7315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C7686"/>
                </a:solidFill>
                <a:latin typeface="Calibri"/>
              </a:rPr>
              <a:t>Consolidated Pvt Ltd · Talent Acquisition Strategy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05695" y="6574536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AA3B1"/>
                </a:solidFill>
                <a:latin typeface="Calibri"/>
              </a:rPr>
              <a:t>07 /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D9488"/>
                </a:solidFill>
                <a:latin typeface="Calibri"/>
              </a:rPr>
              <a:t>METRICS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48495" y="420624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F1722"/>
                </a:solidFill>
                <a:latin typeface="Calibri"/>
              </a:rPr>
              <a:t>08</a:t>
            </a:r>
            <a:r>
              <a:rPr sz="1300" b="0" i="0">
                <a:solidFill>
                  <a:srgbClr val="9AA3B1"/>
                </a:solidFill>
                <a:latin typeface="Calibri"/>
              </a:rPr>
              <a:t>  /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41248"/>
            <a:ext cx="11057839" cy="20116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841248"/>
            <a:ext cx="566928" cy="2011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24128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0F1722"/>
                </a:solidFill>
                <a:latin typeface="Calibri"/>
              </a:rPr>
              <a:t>How we measure progress — and manage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148840"/>
            <a:ext cx="5440680" cy="384048"/>
          </a:xfrm>
          <a:prstGeom prst="rect">
            <a:avLst/>
          </a:prstGeom>
          <a:solidFill>
            <a:srgbClr val="0C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48840"/>
            <a:ext cx="2468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2148840"/>
            <a:ext cx="1097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8" y="2148840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32888"/>
            <a:ext cx="54406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905963"/>
            <a:ext cx="5440680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532888"/>
            <a:ext cx="2468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452"/>
                </a:solidFill>
                <a:latin typeface="Calibri"/>
              </a:rPr>
              <a:t>Time-to-hire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1568" y="2532888"/>
            <a:ext cx="1097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6453A"/>
                </a:solidFill>
                <a:latin typeface="Calibri"/>
              </a:rPr>
              <a:t>50+ 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532888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AA3B1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2532888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8F5F"/>
                </a:solidFill>
                <a:latin typeface="Calibri"/>
              </a:rPr>
              <a:t>30 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916936"/>
            <a:ext cx="5440680" cy="384048"/>
          </a:xfrm>
          <a:prstGeom prst="rect">
            <a:avLst/>
          </a:prstGeom>
          <a:solidFill>
            <a:srgbClr val="F1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3290011"/>
            <a:ext cx="5440680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916936"/>
            <a:ext cx="2468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452"/>
                </a:solidFill>
                <a:latin typeface="Calibri"/>
              </a:rPr>
              <a:t>Cost per hire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1568" y="2916936"/>
            <a:ext cx="1097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6453A"/>
                </a:solidFill>
                <a:latin typeface="Calibri"/>
              </a:rPr>
              <a:t>₹9,000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2916936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AA3B1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64608" y="2916936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8F5F"/>
                </a:solidFill>
                <a:latin typeface="Calibri"/>
              </a:rPr>
              <a:t>₹4,500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00984"/>
            <a:ext cx="54406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674059"/>
            <a:ext cx="5440680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3300984"/>
            <a:ext cx="2468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452"/>
                </a:solidFill>
                <a:latin typeface="Calibri"/>
              </a:rPr>
              <a:t>Referral hiring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01568" y="3300984"/>
            <a:ext cx="1097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6453A"/>
                </a:solidFill>
                <a:latin typeface="Calibri"/>
              </a:rPr>
              <a:t>20%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3300984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AA3B1"/>
                </a:solidFill>
                <a:latin typeface="Calibri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4608" y="3300984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8F5F"/>
                </a:solidFill>
                <a:latin typeface="Calibri"/>
              </a:rPr>
              <a:t>40%+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685032"/>
            <a:ext cx="5440680" cy="384048"/>
          </a:xfrm>
          <a:prstGeom prst="rect">
            <a:avLst/>
          </a:prstGeom>
          <a:solidFill>
            <a:srgbClr val="F1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4058107"/>
            <a:ext cx="5440680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3685032"/>
            <a:ext cx="2468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452"/>
                </a:solidFill>
                <a:latin typeface="Calibri"/>
              </a:rPr>
              <a:t>Agency spend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01568" y="3685032"/>
            <a:ext cx="1097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6453A"/>
                </a:solidFill>
                <a:latin typeface="Calibri"/>
              </a:rPr>
              <a:t>9–10%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8848" y="3685032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AA3B1"/>
                </a:solidFill>
                <a:latin typeface="Calibri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64608" y="3685032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8F5F"/>
                </a:solidFill>
                <a:latin typeface="Calibri"/>
              </a:rPr>
              <a:t>&lt;4%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54406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4442155"/>
            <a:ext cx="5440680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4069080"/>
            <a:ext cx="2468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452"/>
                </a:solidFill>
                <a:latin typeface="Calibri"/>
              </a:rPr>
              <a:t>Offer declines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4069080"/>
            <a:ext cx="1097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6453A"/>
                </a:solidFill>
                <a:latin typeface="Calibri"/>
              </a:rPr>
              <a:t>28%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98848" y="4069080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AA3B1"/>
                </a:solidFill>
                <a:latin typeface="Calibri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64608" y="4069080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8F5F"/>
                </a:solidFill>
                <a:latin typeface="Calibri"/>
              </a:rPr>
              <a:t>&lt;12%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4453128"/>
            <a:ext cx="5440680" cy="384048"/>
          </a:xfrm>
          <a:prstGeom prst="rect">
            <a:avLst/>
          </a:prstGeom>
          <a:solidFill>
            <a:srgbClr val="F1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" y="4826203"/>
            <a:ext cx="5440680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808" y="4453128"/>
            <a:ext cx="2468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452"/>
                </a:solidFill>
                <a:latin typeface="Calibri"/>
              </a:rPr>
              <a:t>Attrition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1568" y="4453128"/>
            <a:ext cx="1097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6453A"/>
                </a:solidFill>
                <a:latin typeface="Calibri"/>
              </a:rPr>
              <a:t>45%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8848" y="4453128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AA3B1"/>
                </a:solidFill>
                <a:latin typeface="Calibri"/>
              </a:rPr>
              <a:t>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64608" y="4453128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8F5F"/>
                </a:solidFill>
                <a:latin typeface="Calibri"/>
              </a:rPr>
              <a:t>&lt;25%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4837176"/>
            <a:ext cx="54406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6928" y="5210251"/>
            <a:ext cx="5440680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9808" y="4837176"/>
            <a:ext cx="24688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3A4452"/>
                </a:solidFill>
                <a:latin typeface="Calibri"/>
              </a:rPr>
              <a:t>90-day retention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01568" y="4837176"/>
            <a:ext cx="1097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6453A"/>
                </a:solidFill>
                <a:latin typeface="Calibri"/>
              </a:rPr>
              <a:t>baseline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98848" y="4837176"/>
            <a:ext cx="365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9AA3B1"/>
                </a:solidFill>
                <a:latin typeface="Calibri"/>
              </a:rPr>
              <a:t>→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64608" y="4837176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A8F5F"/>
                </a:solidFill>
                <a:latin typeface="Calibri"/>
              </a:rPr>
              <a:t>90%+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5330952"/>
            <a:ext cx="5440680" cy="566928"/>
          </a:xfrm>
          <a:prstGeom prst="roundRect">
            <a:avLst>
              <a:gd name="adj" fmla="val 6000"/>
            </a:avLst>
          </a:prstGeom>
          <a:solidFill>
            <a:srgbClr val="F1F6F7"/>
          </a:solidFill>
          <a:ln w="12700">
            <a:solidFill>
              <a:srgbClr val="DD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6928" y="5330952"/>
            <a:ext cx="4572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6384" y="5385816"/>
            <a:ext cx="50200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F1722"/>
                </a:solidFill>
                <a:latin typeface="Calibri"/>
              </a:rPr>
              <a:t>Key leading indicator: </a:t>
            </a:r>
            <a:r>
              <a:rPr sz="1250" b="0" i="0">
                <a:solidFill>
                  <a:srgbClr val="3A4452"/>
                </a:solidFill>
                <a:latin typeface="Calibri"/>
              </a:rPr>
              <a:t>90-day retention — it signals attrition months before the annual figure moves.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355080" y="2148840"/>
            <a:ext cx="5269687" cy="2788920"/>
          </a:xfrm>
          <a:prstGeom prst="roundRect">
            <a:avLst>
              <a:gd name="adj" fmla="val 6000"/>
            </a:avLst>
          </a:prstGeom>
          <a:solidFill>
            <a:srgbClr val="FBF2E3"/>
          </a:solidFill>
          <a:ln w="12700">
            <a:solidFill>
              <a:srgbClr val="EAD9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74536" y="2331720"/>
            <a:ext cx="4830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2700A"/>
                </a:solidFill>
                <a:latin typeface="Calibri"/>
              </a:rPr>
              <a:t>⚠  RISK → RESPONSE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74536" y="2715768"/>
            <a:ext cx="4830775" cy="21122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C2700A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Aggressive competitor hiring → </a:t>
            </a:r>
            <a:r>
              <a:rPr sz="1200">
                <a:solidFill>
                  <a:srgbClr val="3A4452"/>
                </a:solidFill>
                <a:latin typeface="Calibri"/>
              </a:rPr>
              <a:t>stronger brand + quicker offers + referrals.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C2700A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Speed vs quality → </a:t>
            </a:r>
            <a:r>
              <a:rPr sz="1200">
                <a:solidFill>
                  <a:srgbClr val="3A4452"/>
                </a:solidFill>
                <a:latin typeface="Calibri"/>
              </a:rPr>
              <a:t>talent pipelines + structured assessment.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C2700A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Attrition not falling → </a:t>
            </a:r>
            <a:r>
              <a:rPr sz="1200">
                <a:solidFill>
                  <a:srgbClr val="3A4452"/>
                </a:solidFill>
                <a:latin typeface="Calibri"/>
              </a:rPr>
              <a:t>prioritise onboarding and the first 90 days.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C2700A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Slow system adoption → </a:t>
            </a:r>
            <a:r>
              <a:rPr sz="1200">
                <a:solidFill>
                  <a:srgbClr val="3A4452"/>
                </a:solidFill>
                <a:latin typeface="Calibri"/>
              </a:rPr>
              <a:t>make ATS mandatory; link to manager reviews.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00" b="1">
                <a:solidFill>
                  <a:srgbClr val="C2700A"/>
                </a:solidFill>
                <a:latin typeface="Calibri"/>
              </a:rPr>
              <a:t>• </a:t>
            </a:r>
            <a:r>
              <a:rPr sz="1200" b="1">
                <a:solidFill>
                  <a:srgbClr val="0F1722"/>
                </a:solidFill>
                <a:latin typeface="Calibri"/>
              </a:rPr>
              <a:t>Sudden demand → </a:t>
            </a:r>
            <a:r>
              <a:rPr sz="1200">
                <a:solidFill>
                  <a:srgbClr val="3A4452"/>
                </a:solidFill>
                <a:latin typeface="Calibri"/>
              </a:rPr>
              <a:t>100-hire buffer + ready pipelines.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5074920"/>
            <a:ext cx="52696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F1722"/>
                </a:solidFill>
                <a:latin typeface="Calibri"/>
              </a:rPr>
              <a:t>Review rhythm: </a:t>
            </a:r>
            <a:r>
              <a:rPr sz="1200" b="0" i="0">
                <a:solidFill>
                  <a:srgbClr val="3A4452"/>
                </a:solidFill>
                <a:latin typeface="Calibri"/>
              </a:rPr>
              <a:t>a weekly operational review · a monthly strategic review with the CEO/CHRO.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0" y="6547104"/>
            <a:ext cx="12191695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574536"/>
            <a:ext cx="7315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C7686"/>
                </a:solidFill>
                <a:latin typeface="Calibri"/>
              </a:rPr>
              <a:t>Consolidated Pvt Ltd · Talent Acquisition Strategy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5695" y="6574536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AA3B1"/>
                </a:solidFill>
                <a:latin typeface="Calibri"/>
              </a:rPr>
              <a:t>08 / 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0" y="0"/>
            <a:ext cx="4510735" cy="6858000"/>
          </a:xfrm>
          <a:prstGeom prst="rect">
            <a:avLst/>
          </a:prstGeom>
          <a:solidFill>
            <a:srgbClr val="0C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40080"/>
            <a:ext cx="1554480" cy="384048"/>
          </a:xfrm>
          <a:prstGeom prst="roundRect">
            <a:avLst>
              <a:gd name="adj" fmla="val 6000"/>
            </a:avLst>
          </a:prstGeom>
          <a:solidFill>
            <a:srgbClr val="102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554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FFFFF"/>
                </a:solidFill>
                <a:latin typeface="Calibri"/>
              </a:rPr>
              <a:t>Consolidated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658368"/>
            <a:ext cx="5029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C7686"/>
                </a:solidFill>
                <a:latin typeface="Calibri"/>
              </a:rPr>
              <a:t>OUTCOMES &amp; THE 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1783080"/>
            <a:ext cx="66751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F1722"/>
                </a:solidFill>
                <a:latin typeface="Calibri"/>
              </a:rPr>
              <a:t>The same ~1,000 hires,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F1722"/>
                </a:solidFill>
                <a:latin typeface="Calibri"/>
              </a:rPr>
              <a:t>now driving </a:t>
            </a:r>
            <a:r>
              <a:rPr sz="3200" b="1" i="0">
                <a:solidFill>
                  <a:srgbClr val="0B7D72"/>
                </a:solidFill>
                <a:latin typeface="Calibri"/>
              </a:rPr>
              <a:t>real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6126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3A4452"/>
                </a:solidFill>
                <a:latin typeface="Calibri"/>
              </a:rPr>
              <a:t>“We cannot reach ₹5,000 Cr while 45% of our people keep leaving. By fixing retention and speed together, the same hiring delivers genuine growth — faster, more cost-effective, and built to last.”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349240"/>
            <a:ext cx="6309360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449824"/>
            <a:ext cx="640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C7686"/>
                </a:solidFill>
                <a:latin typeface="Calibri"/>
              </a:rPr>
              <a:t>Head – Talent Acquisition, Consolidated Pvt Ltd  ·  Hiring as a key business driver  ·  12–24 month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685800"/>
            <a:ext cx="3687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7C8B8"/>
                </a:solidFill>
                <a:latin typeface="Calibri"/>
              </a:rPr>
              <a:t>WHERE WE REACH IN 18–24 MONTHS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371600"/>
            <a:ext cx="3687775" cy="10972"/>
          </a:xfrm>
          <a:prstGeom prst="rect">
            <a:avLst/>
          </a:prstGeom>
          <a:solidFill>
            <a:srgbClr val="2A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536192"/>
            <a:ext cx="36877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30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084832"/>
            <a:ext cx="3687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2C2"/>
                </a:solidFill>
                <a:latin typeface="Calibri"/>
              </a:rPr>
              <a:t>AVERAGE TIME-TO-HIRE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2578608"/>
            <a:ext cx="3687775" cy="10972"/>
          </a:xfrm>
          <a:prstGeom prst="rect">
            <a:avLst/>
          </a:prstGeom>
          <a:solidFill>
            <a:srgbClr val="2A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2743200"/>
            <a:ext cx="36877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below 25%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291840"/>
            <a:ext cx="3687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2C2"/>
                </a:solidFill>
                <a:latin typeface="Calibri"/>
              </a:rPr>
              <a:t>ATTRITION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3785616"/>
            <a:ext cx="3687775" cy="10972"/>
          </a:xfrm>
          <a:prstGeom prst="rect">
            <a:avLst/>
          </a:prstGeom>
          <a:solidFill>
            <a:srgbClr val="2A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3950208"/>
            <a:ext cx="36877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₹4,500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4498848"/>
            <a:ext cx="3687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2C2"/>
                </a:solidFill>
                <a:latin typeface="Calibri"/>
              </a:rPr>
              <a:t>COST PER HIRE (HALVED)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4992624"/>
            <a:ext cx="3687775" cy="10972"/>
          </a:xfrm>
          <a:prstGeom prst="rect">
            <a:avLst/>
          </a:prstGeom>
          <a:solidFill>
            <a:srgbClr val="2A3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5157216"/>
            <a:ext cx="36877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→ ₹5,000 Cr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5705856"/>
            <a:ext cx="3687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9FB2C2"/>
                </a:solidFill>
                <a:latin typeface="Calibri"/>
              </a:rPr>
              <a:t>GROWTH ENABLED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547104"/>
            <a:ext cx="12191695" cy="1097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74536"/>
            <a:ext cx="73152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C7686"/>
                </a:solidFill>
                <a:latin typeface="Calibri"/>
              </a:rPr>
              <a:t>Consolidated Pvt Ltd · Talent Acquisition Strategy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05695" y="6574536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9AA3B1"/>
                </a:solidFill>
                <a:latin typeface="Calibri"/>
              </a:rPr>
              <a:t>Close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